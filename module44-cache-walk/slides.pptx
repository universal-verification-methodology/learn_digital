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direct-mapped cache splits each address into tag, index, and offset. Index selects which set to probe. Tag compares against the stored line tag when valid. Offset picks the byte inside the cache line. A hit needs valid set and matching tag. A miss fetches or installs the line. Two addresses with the same index but different tags map to one set and can conflict. This lab walks probe, hit, miss, and install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cold direct-mapped cache, two index bits, two offset bits—four sets, four-byte lines, sixteen-byte capacity. Address hex fourteen decodes to tag one, index one, offset zero. First Access is a miss; install loads the line into set one. Access again is a hit. Address hex fifteen shares tag and index with offset one—still a hit, spatial locality. Address hex twenty-four shares index one but tag two—a conflict miss.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set index and offset bit widths and enter an address. Colored address bits show tag, index, and offset fields. Access walks decode, probe, and hit or miss verdict. The set table shows valid, tag, and line data. On miss, choose Install line to fill the set. Access log records each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split address hex fourteen with two index and two offset bits. Label tag, index, and offset values. Draw four sets with one line each. Trace cold access, install, repeat hit, and one conflict miss. Compute line size as two to the offset bits and capacity as sets times line size. Name one pitfall: assuming same index means same tag.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index as the full address—tag distinguishes lines in the same set. Valid zero always means miss. Direct-mapped is simple but thrashes on conflicts; set-associative caches reduce that at higher cost. And remember: this toy memory uses a formula for bytes—real caches fetch from backing store.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decode zero fourteen, miss once, hit twice, then try zero twenty-four. On paper, fill one row of the set table after install. When you are ready, take the short quiz, then continue to dual-port 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Cache walk</a:t>
            </a:r>
          </a:p>
          <a:p>
            <a:pPr algn="ctr">
              <a:lnSpc>
                <a:spcPts val="2200"/>
              </a:lnSpc>
              <a:spcBef>
                <a:spcPts val="1400"/>
              </a:spcBef>
            </a:pPr>
            <a:r>
              <a:rPr sz="2600" b="0">
                <a:solidFill>
                  <a:srgbClr val="333333"/>
                </a:solidFill>
                <a:latin typeface="Calibri"/>
              </a:rPr>
              <a:t>A direct-mapped cache splits each address into tag, index, and offset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cache walk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Address 0x14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cold direct-mapped cache</a:t>
            </a:r>
          </a:p>
          <a:p>
            <a:pPr lvl="0" marL="457200" indent="-228600">
              <a:buFont typeface="Calibri"/>
              <a:spcAft>
                <a:spcPts val="1000"/>
              </a:spcAft>
              <a:buSzPct val="100000"/>
              <a:buChar char="•"/>
              <a:lnSpc>
                <a:spcPts val="2200"/>
              </a:lnSpc>
            </a:pPr>
            <a:r>
              <a:rPr sz="2000" b="0">
                <a:solidFill>
                  <a:srgbClr val="333333"/>
                </a:solidFill>
                <a:latin typeface="Calibri"/>
              </a:rPr>
              <a:t>Address hex fourteen decodes to tag one, index one, offset zero</a:t>
            </a:r>
          </a:p>
          <a:p>
            <a:pPr lvl="0" marL="457200" indent="-228600">
              <a:buFont typeface="Calibri"/>
              <a:spcAft>
                <a:spcPts val="1000"/>
              </a:spcAft>
              <a:buSzPct val="100000"/>
              <a:buChar char="•"/>
              <a:lnSpc>
                <a:spcPts val="2200"/>
              </a:lnSpc>
            </a:pPr>
            <a:r>
              <a:rPr sz="2000" b="0">
                <a:solidFill>
                  <a:srgbClr val="333333"/>
                </a:solidFill>
                <a:latin typeface="Calibri"/>
              </a:rPr>
              <a:t>First Access is a miss; install loads the line into set one</a:t>
            </a:r>
          </a:p>
          <a:p>
            <a:pPr lvl="0" marL="457200" indent="-228600">
              <a:buFont typeface="Calibri"/>
              <a:spcAft>
                <a:spcPts val="1000"/>
              </a:spcAft>
              <a:buSzPct val="100000"/>
              <a:buChar char="•"/>
              <a:lnSpc>
                <a:spcPts val="2200"/>
              </a:lnSpc>
            </a:pPr>
            <a:r>
              <a:rPr sz="2000" b="0">
                <a:solidFill>
                  <a:srgbClr val="333333"/>
                </a:solidFill>
                <a:latin typeface="Calibri"/>
              </a:rPr>
              <a:t>Access again is a hit</a:t>
            </a:r>
          </a:p>
          <a:p>
            <a:pPr lvl="0" marL="457200" indent="-228600">
              <a:buFont typeface="Calibri"/>
              <a:spcAft>
                <a:spcPts val="1000"/>
              </a:spcAft>
              <a:buSzPct val="100000"/>
              <a:buChar char="•"/>
              <a:lnSpc>
                <a:spcPts val="2200"/>
              </a:lnSpc>
            </a:pPr>
            <a:r>
              <a:rPr sz="2000" b="0">
                <a:solidFill>
                  <a:srgbClr val="333333"/>
                </a:solidFill>
                <a:latin typeface="Calibri"/>
              </a:rPr>
              <a:t>Address hex fifteen shares tag and index with offset one, still a hit, spatial locality</a:t>
            </a:r>
          </a:p>
          <a:p>
            <a:pPr lvl="0" marL="457200" indent="-228600">
              <a:buFont typeface="Calibri"/>
              <a:spcAft>
                <a:spcPts val="1000"/>
              </a:spcAft>
              <a:buSzPct val="100000"/>
              <a:buChar char="•"/>
              <a:lnSpc>
                <a:spcPts val="2200"/>
              </a:lnSpc>
            </a:pPr>
            <a:r>
              <a:rPr sz="2000" b="0">
                <a:solidFill>
                  <a:srgbClr val="333333"/>
                </a:solidFill>
                <a:latin typeface="Calibri"/>
              </a:rPr>
              <a:t>Address hex twenty-four shares index one but tag two, a conflict miss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cache walk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Cache walk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cache walk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split address hex fourteen with two index and two offset bits</a:t>
            </a:r>
          </a:p>
          <a:p>
            <a:pPr lvl="0" marL="457200" indent="-228600">
              <a:buFont typeface="Calibri"/>
              <a:spcAft>
                <a:spcPts val="1000"/>
              </a:spcAft>
              <a:buSzPct val="100000"/>
              <a:buChar char="•"/>
              <a:lnSpc>
                <a:spcPts val="2200"/>
              </a:lnSpc>
            </a:pPr>
            <a:r>
              <a:rPr sz="2000" b="0">
                <a:solidFill>
                  <a:srgbClr val="333333"/>
                </a:solidFill>
                <a:latin typeface="Calibri"/>
              </a:rPr>
              <a:t>Label tag, index, and offset values</a:t>
            </a:r>
          </a:p>
          <a:p>
            <a:pPr lvl="0" marL="457200" indent="-228600">
              <a:buFont typeface="Calibri"/>
              <a:spcAft>
                <a:spcPts val="1000"/>
              </a:spcAft>
              <a:buSzPct val="100000"/>
              <a:buChar char="•"/>
              <a:lnSpc>
                <a:spcPts val="2200"/>
              </a:lnSpc>
            </a:pPr>
            <a:r>
              <a:rPr sz="2000" b="0">
                <a:solidFill>
                  <a:srgbClr val="333333"/>
                </a:solidFill>
                <a:latin typeface="Calibri"/>
              </a:rPr>
              <a:t>Draw four sets with one line each</a:t>
            </a:r>
          </a:p>
          <a:p>
            <a:pPr lvl="0" marL="457200" indent="-228600">
              <a:buFont typeface="Calibri"/>
              <a:spcAft>
                <a:spcPts val="1000"/>
              </a:spcAft>
              <a:buSzPct val="100000"/>
              <a:buChar char="•"/>
              <a:lnSpc>
                <a:spcPts val="2200"/>
              </a:lnSpc>
            </a:pPr>
            <a:r>
              <a:rPr sz="2000" b="0">
                <a:solidFill>
                  <a:srgbClr val="333333"/>
                </a:solidFill>
                <a:latin typeface="Calibri"/>
              </a:rPr>
              <a:t>Trace cold access, install, repeat hit, and one conflict miss</a:t>
            </a:r>
          </a:p>
          <a:p>
            <a:pPr lvl="0" marL="457200" indent="-228600">
              <a:buFont typeface="Calibri"/>
              <a:spcAft>
                <a:spcPts val="1000"/>
              </a:spcAft>
              <a:buSzPct val="100000"/>
              <a:buChar char="•"/>
              <a:lnSpc>
                <a:spcPts val="2200"/>
              </a:lnSpc>
            </a:pPr>
            <a:r>
              <a:rPr sz="2000" b="0">
                <a:solidFill>
                  <a:srgbClr val="333333"/>
                </a:solidFill>
                <a:latin typeface="Calibri"/>
              </a:rPr>
              <a:t>Compute line size as two to the offset bits and capacity as sets times line size</a:t>
            </a:r>
          </a:p>
          <a:p>
            <a:pPr lvl="0" marL="457200" indent="-228600">
              <a:buFont typeface="Calibri"/>
              <a:spcAft>
                <a:spcPts val="1000"/>
              </a:spcAft>
              <a:buSzPct val="100000"/>
              <a:buChar char="•"/>
              <a:lnSpc>
                <a:spcPts val="2200"/>
              </a:lnSpc>
            </a:pPr>
            <a:r>
              <a:rPr sz="2000" b="0">
                <a:solidFill>
                  <a:srgbClr val="333333"/>
                </a:solidFill>
                <a:latin typeface="Calibri"/>
              </a:rPr>
              <a:t>Name one pitfall: assuming same index means same tag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cache walk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index as the full address, tag distinguishes lines in the same set</a:t>
            </a:r>
          </a:p>
          <a:p>
            <a:pPr lvl="0" marL="457200" indent="-228600">
              <a:buFont typeface="Calibri"/>
              <a:spcAft>
                <a:spcPts val="1000"/>
              </a:spcAft>
              <a:buSzPct val="100000"/>
              <a:buChar char="•"/>
              <a:lnSpc>
                <a:spcPts val="2200"/>
              </a:lnSpc>
            </a:pPr>
            <a:r>
              <a:rPr sz="2000" b="0">
                <a:solidFill>
                  <a:srgbClr val="333333"/>
                </a:solidFill>
                <a:latin typeface="Calibri"/>
              </a:rPr>
              <a:t>Valid zero always means miss</a:t>
            </a:r>
          </a:p>
          <a:p>
            <a:pPr lvl="0" marL="457200" indent="-228600">
              <a:buFont typeface="Calibri"/>
              <a:spcAft>
                <a:spcPts val="1000"/>
              </a:spcAft>
              <a:buSzPct val="100000"/>
              <a:buChar char="•"/>
              <a:lnSpc>
                <a:spcPts val="2200"/>
              </a:lnSpc>
            </a:pPr>
            <a:r>
              <a:rPr sz="2000" b="0">
                <a:solidFill>
                  <a:srgbClr val="333333"/>
                </a:solidFill>
                <a:latin typeface="Calibri"/>
              </a:rPr>
              <a:t>Direct-mapped is simple but thrashes on conflicts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cache walk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decode zero fourteen, miss once, hit twice, then try zero twenty-four</a:t>
            </a:r>
          </a:p>
          <a:p>
            <a:pPr lvl="0" marL="457200" indent="-228600">
              <a:buFont typeface="Calibri"/>
              <a:spcAft>
                <a:spcPts val="1000"/>
              </a:spcAft>
              <a:buSzPct val="100000"/>
              <a:buChar char="•"/>
              <a:lnSpc>
                <a:spcPts val="2200"/>
              </a:lnSpc>
            </a:pPr>
            <a:r>
              <a:rPr sz="2000" b="0">
                <a:solidFill>
                  <a:srgbClr val="333333"/>
                </a:solidFill>
                <a:latin typeface="Calibri"/>
              </a:rPr>
              <a:t>On paper, fill one row of the set table after install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dual-port RAM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cache walk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