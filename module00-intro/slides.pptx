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Digital chips speak in bits, gates, clocks, and state. Before you write Verilog, you need those ideas in your bones. This short clip welcomes you to learn digital—the foundations course—and shows how the two practice tracks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the course you’ll move from numbers and encodings, through Boolean logic and gates, into clocks and state machines, then datapath and memory. You are not learning a hardware language yet. Coding in Verilog and SystemVerilog comes later. Here you learn the concepts those languages describe.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lab module offers two ways to practice. The workbook track is paper or notes: truth tables, encodings, timing sketches you can redo without a browser. The browser lab track uses interactive tools on the learning platform for quick feedback and visual intuition. You may do either track, or both. A good rhythm is browser first for the idea, then a paper sketch to harden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Grab a notebook or tablet. That is the whole setup for the workbook track. When a module asks you to sketch a table or a timing diagram, do it by hand. Stretch reading in the older combined digital-and-Verilog materials is optional—not required for this path.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monorepo, serve the platform folder with a simple local web server, then open the tools index in your browser. That index is the map of interactive labs you’ll use later. If you prefer, use the published tools site instead. Either way, confirm you can reach the tools page—the next module will send you into a specific lab.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module, read the README for the outcome, pick a track—or both—then work the checklist. When you finish this intro checklist, continue to the first lab: radix and bit width, where number bases become something you can convert with confidence.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Welcome to digital foundations</a:t>
            </a:r>
          </a:p>
          <a:p>
            <a:pPr algn="ctr">
              <a:lnSpc>
                <a:spcPts val="2200"/>
              </a:lnSpc>
              <a:spcBef>
                <a:spcPts val="1400"/>
              </a:spcBef>
            </a:pPr>
            <a:r>
              <a:rPr sz="2600" b="0">
                <a:solidFill>
                  <a:srgbClr val="333333"/>
                </a:solidFill>
                <a:latin typeface="Calibri"/>
              </a:rPr>
              <a:t>Digital chips speak in bits, gates, clocks, and state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you’ll build toward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Across the course you’ll move from numbers and encodings</a:t>
            </a:r>
          </a:p>
          <a:p>
            <a:pPr lvl="0" marL="457200" indent="-228600">
              <a:buFont typeface="Calibri"/>
              <a:spcAft>
                <a:spcPts val="1000"/>
              </a:spcAft>
              <a:buSzPct val="100000"/>
              <a:buChar char="•"/>
              <a:lnSpc>
                <a:spcPts val="2200"/>
              </a:lnSpc>
            </a:pPr>
            <a:r>
              <a:rPr sz="2000" b="0">
                <a:solidFill>
                  <a:srgbClr val="333333"/>
                </a:solidFill>
                <a:latin typeface="Calibri"/>
              </a:rPr>
              <a:t>You are not learning a hardware language yet</a:t>
            </a:r>
          </a:p>
          <a:p>
            <a:pPr lvl="0" marL="457200" indent="-228600">
              <a:buFont typeface="Calibri"/>
              <a:spcAft>
                <a:spcPts val="1000"/>
              </a:spcAft>
              <a:buSzPct val="100000"/>
              <a:buChar char="•"/>
              <a:lnSpc>
                <a:spcPts val="2200"/>
              </a:lnSpc>
            </a:pPr>
            <a:r>
              <a:rPr sz="2000" b="0">
                <a:solidFill>
                  <a:srgbClr val="333333"/>
                </a:solidFill>
                <a:latin typeface="Calibri"/>
              </a:rPr>
              <a:t>Coding in Verilog and SystemVerilog comes later</a:t>
            </a:r>
          </a:p>
          <a:p>
            <a:pPr lvl="0" marL="457200" indent="-228600">
              <a:buFont typeface="Calibri"/>
              <a:spcAft>
                <a:spcPts val="1000"/>
              </a:spcAft>
              <a:buSzPct val="100000"/>
              <a:buChar char="•"/>
              <a:lnSpc>
                <a:spcPts val="2200"/>
              </a:lnSpc>
            </a:pPr>
            <a:r>
              <a:rPr sz="2000" b="0">
                <a:solidFill>
                  <a:srgbClr val="333333"/>
                </a:solidFill>
                <a:latin typeface="Calibri"/>
              </a:rPr>
              <a:t>Here you learn the concepts those languages describe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tracks, one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Every lab module offers two ways to practice</a:t>
            </a:r>
          </a:p>
          <a:p>
            <a:pPr lvl="0" marL="457200" indent="-228600">
              <a:buFont typeface="Calibri"/>
              <a:spcAft>
                <a:spcPts val="1000"/>
              </a:spcAft>
              <a:buSzPct val="100000"/>
              <a:buChar char="•"/>
              <a:lnSpc>
                <a:spcPts val="2200"/>
              </a:lnSpc>
            </a:pPr>
            <a:r>
              <a:rPr sz="2000" b="0">
                <a:solidFill>
                  <a:srgbClr val="333333"/>
                </a:solidFill>
                <a:latin typeface="Calibri"/>
              </a:rPr>
              <a:t>The workbook track is paper or notes</a:t>
            </a:r>
          </a:p>
          <a:p>
            <a:pPr lvl="0" marL="457200" indent="-228600">
              <a:buFont typeface="Calibri"/>
              <a:spcAft>
                <a:spcPts val="1000"/>
              </a:spcAft>
              <a:buSzPct val="100000"/>
              <a:buChar char="•"/>
              <a:lnSpc>
                <a:spcPts val="2200"/>
              </a:lnSpc>
            </a:pPr>
            <a:r>
              <a:rPr sz="2000" b="0">
                <a:solidFill>
                  <a:srgbClr val="333333"/>
                </a:solidFill>
                <a:latin typeface="Calibri"/>
              </a:rPr>
              <a:t>The browser lab track uses interactive tools on the learning platform for quick feedback</a:t>
            </a:r>
          </a:p>
          <a:p>
            <a:pPr lvl="0" marL="457200" indent="-228600">
              <a:buFont typeface="Calibri"/>
              <a:spcAft>
                <a:spcPts val="1000"/>
              </a:spcAft>
              <a:buSzPct val="100000"/>
              <a:buChar char="•"/>
              <a:lnSpc>
                <a:spcPts val="2200"/>
              </a:lnSpc>
            </a:pPr>
            <a:r>
              <a:rPr sz="2000" b="0">
                <a:solidFill>
                  <a:srgbClr val="333333"/>
                </a:solidFill>
                <a:latin typeface="Calibri"/>
              </a:rPr>
              <a:t>You may do either track, or both</a:t>
            </a:r>
          </a:p>
          <a:p>
            <a:pPr lvl="0" marL="457200" indent="-228600">
              <a:buFont typeface="Calibri"/>
              <a:spcAft>
                <a:spcPts val="1000"/>
              </a:spcAft>
              <a:buSzPct val="100000"/>
              <a:buChar char="•"/>
              <a:lnSpc>
                <a:spcPts val="2200"/>
              </a:lnSpc>
            </a:pPr>
            <a:r>
              <a:rPr sz="2000" b="0">
                <a:solidFill>
                  <a:srgbClr val="333333"/>
                </a:solidFill>
                <a:latin typeface="Calibri"/>
              </a:rPr>
              <a:t>A good rhythm is browser first for the idea, then a paper sketch to harden it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the workbook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Grab a notebook or tablet</a:t>
            </a:r>
          </a:p>
          <a:p>
            <a:pPr lvl="0" marL="457200" indent="-228600">
              <a:buFont typeface="Calibri"/>
              <a:spcAft>
                <a:spcPts val="1000"/>
              </a:spcAft>
              <a:buSzPct val="100000"/>
              <a:buChar char="•"/>
              <a:lnSpc>
                <a:spcPts val="2200"/>
              </a:lnSpc>
            </a:pPr>
            <a:r>
              <a:rPr sz="2000" b="0">
                <a:solidFill>
                  <a:srgbClr val="333333"/>
                </a:solidFill>
                <a:latin typeface="Calibri"/>
              </a:rPr>
              <a:t>That is the whole setup for the workbook track</a:t>
            </a:r>
          </a:p>
          <a:p>
            <a:pPr lvl="0" marL="457200" indent="-228600">
              <a:buFont typeface="Calibri"/>
              <a:spcAft>
                <a:spcPts val="1000"/>
              </a:spcAft>
              <a:buSzPct val="100000"/>
              <a:buChar char="•"/>
              <a:lnSpc>
                <a:spcPts val="2200"/>
              </a:lnSpc>
            </a:pPr>
            <a:r>
              <a:rPr sz="2000" b="0">
                <a:solidFill>
                  <a:srgbClr val="333333"/>
                </a:solidFill>
                <a:latin typeface="Calibri"/>
              </a:rPr>
              <a:t>When a module asks you to sketch a table or a timing diagram, do it by hand</a:t>
            </a:r>
          </a:p>
          <a:p>
            <a:pPr lvl="0" marL="457200" indent="-228600">
              <a:buFont typeface="Calibri"/>
              <a:spcAft>
                <a:spcPts val="1000"/>
              </a:spcAft>
              <a:buSzPct val="100000"/>
              <a:buChar char="•"/>
              <a:lnSpc>
                <a:spcPts val="2200"/>
              </a:lnSpc>
            </a:pPr>
            <a:r>
              <a:rPr sz="2000" b="0">
                <a:solidFill>
                  <a:srgbClr val="333333"/>
                </a:solidFill>
                <a:latin typeface="Calibri"/>
              </a:rPr>
              <a:t>Stretch reading in the older combined digital-and-Verilog materials is optional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intro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the browser lab track</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From the monorepo</a:t>
            </a:r>
          </a:p>
          <a:p>
            <a:pPr lvl="0" marL="457200" indent="-228600">
              <a:buFont typeface="Calibri"/>
              <a:spcAft>
                <a:spcPts val="1000"/>
              </a:spcAft>
              <a:buSzPct val="100000"/>
              <a:buChar char="•"/>
              <a:lnSpc>
                <a:spcPts val="2200"/>
              </a:lnSpc>
            </a:pPr>
            <a:r>
              <a:rPr sz="2000" b="0">
                <a:solidFill>
                  <a:srgbClr val="333333"/>
                </a:solidFill>
                <a:latin typeface="Calibri"/>
              </a:rPr>
              <a:t>That index is the map of interactive labs you’ll use later</a:t>
            </a:r>
          </a:p>
          <a:p>
            <a:pPr lvl="0" marL="457200" indent="-228600">
              <a:buFont typeface="Calibri"/>
              <a:spcAft>
                <a:spcPts val="1000"/>
              </a:spcAft>
              <a:buSzPct val="100000"/>
              <a:buChar char="•"/>
              <a:lnSpc>
                <a:spcPts val="2200"/>
              </a:lnSpc>
            </a:pPr>
            <a:r>
              <a:rPr sz="2000" b="0">
                <a:solidFill>
                  <a:srgbClr val="333333"/>
                </a:solidFill>
                <a:latin typeface="Calibri"/>
              </a:rPr>
              <a:t>If you prefer, use the published tools site instead</a:t>
            </a:r>
          </a:p>
          <a:p>
            <a:pPr lvl="0" marL="457200" indent="-228600">
              <a:buFont typeface="Calibri"/>
              <a:spcAft>
                <a:spcPts val="1000"/>
              </a:spcAft>
              <a:buSzPct val="100000"/>
              <a:buChar char="•"/>
              <a:lnSpc>
                <a:spcPts val="2200"/>
              </a:lnSpc>
            </a:pPr>
            <a:r>
              <a:rPr sz="2000" b="0">
                <a:solidFill>
                  <a:srgbClr val="333333"/>
                </a:solidFill>
                <a:latin typeface="Calibri"/>
              </a:rPr>
              <a:t>Confirm you can reach the tools page, the next module will send you into a specific lab</a:t>
            </a:r>
          </a:p>
        </p:txBody>
      </p:sp>
      <p:pic>
        <p:nvPicPr>
          <p:cNvPr id="4" name="Picture 3" descr="tools-index.png"/>
          <p:cNvPicPr>
            <a:picLocks noChangeAspect="1"/>
          </p:cNvPicPr>
          <p:nvPr/>
        </p:nvPicPr>
        <p:blipFill>
          <a:blip r:embed="rId2"/>
          <a:stretch>
            <a:fillRect/>
          </a:stretch>
        </p:blipFill>
        <p:spPr>
          <a:xfrm>
            <a:off x="6172200" y="1925955"/>
            <a:ext cx="5394960" cy="3371850"/>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intro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to move through modules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each module</a:t>
            </a:r>
          </a:p>
          <a:p>
            <a:pPr lvl="0" marL="457200" indent="-228600">
              <a:buFont typeface="Calibri"/>
              <a:spcAft>
                <a:spcPts val="1000"/>
              </a:spcAft>
              <a:buSzPct val="100000"/>
              <a:buChar char="•"/>
              <a:lnSpc>
                <a:spcPts val="2200"/>
              </a:lnSpc>
            </a:pPr>
            <a:r>
              <a:rPr sz="2000" b="0">
                <a:solidFill>
                  <a:srgbClr val="333333"/>
                </a:solidFill>
                <a:latin typeface="Calibri"/>
              </a:rPr>
              <a:t>When you finish this intro checklist, continue to the first lab</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intro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