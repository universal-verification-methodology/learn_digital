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streaming beat moves when source and sink agree in the same cycle. Valid means the source offers data—the payload is meaningful this cycle. Ready means the sink can accept a beat. Fire equals valid and ready both high; only then is data accepted. If ready is one but valid is zero, nothing transfers—the source is not offering. If valid is one but ready is zero, the sink backpressures; a well-behaved source holds valid and data stable until the handshake completes.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preset: both assert on cycle zero. Valid and ready are one, data is hex A5, and fire is one—one beat transfers immediately. The wave table shows eight cycles; click valid or ready cells to toggle. Step through cycles to see when fire lights up. Try source-stall preset—valid rises late while ready waits. Try sink-stall—valid held high until ready finally rises. Back-to-back preset fires three transfers in a row when both sides stay ready.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watch the verdict panel. Green means transfer at the current cycle; gray means no transfer. The fire row marks every cycle where valid and ready overlap. Presets load stall and burst patterns. Edit data on a transfer cycle, or toggle cells to build your own pattern. Challenges ask how many beats transfer and when the first handshake fires.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draw valid and ready waveforms for one successful beat and one sink stall. Write the fire equation in words. Tabulate four cycles showing valid, ready, and whether a transfer happens. Explain what the source should do while valid is high and ready is still low. Name one place you might see this handshake style on chip—streaming buses like AXI-Stream are the usual answer.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valid alone moves data—both sides must agree. Do not toggle data while waiting for ready; stability matters for real RTL. Avoid combinational loops where ready depends on valid in a way that creates a cycle. This lab is conceptual timing literacy, not a full protocol checker or VIP. And remember: misaligned valid and ready means zero transfers even if both signals pulse somewhere in the window.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run together, source-stall, and sink-stall presets and count transfers. On paper, sketch a two-beat back-to-back burst. When you are ready, take the short quiz, then continue to the block-diagram integrator.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Valid/ready handshake</a:t>
            </a:r>
          </a:p>
          <a:p>
            <a:pPr algn="ctr">
              <a:lnSpc>
                <a:spcPts val="2200"/>
              </a:lnSpc>
              <a:spcBef>
                <a:spcPts val="1400"/>
              </a:spcBef>
            </a:pPr>
            <a:r>
              <a:rPr sz="2600" b="0">
                <a:solidFill>
                  <a:srgbClr val="333333"/>
                </a:solidFill>
                <a:latin typeface="Calibri"/>
              </a:rPr>
              <a:t>A streaming beat moves when source and sink agree in the same cycle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handshake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beat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preset: both assert on cycle zero</a:t>
            </a:r>
          </a:p>
          <a:p>
            <a:pPr lvl="0" marL="457200" indent="-228600">
              <a:buFont typeface="Calibri"/>
              <a:spcAft>
                <a:spcPts val="1000"/>
              </a:spcAft>
              <a:buSzPct val="100000"/>
              <a:buChar char="•"/>
              <a:lnSpc>
                <a:spcPts val="2200"/>
              </a:lnSpc>
            </a:pPr>
            <a:r>
              <a:rPr sz="2000" b="0">
                <a:solidFill>
                  <a:srgbClr val="333333"/>
                </a:solidFill>
                <a:latin typeface="Calibri"/>
              </a:rPr>
              <a:t>Valid and ready are one, data is hex A5, and fire is one, one beat transfers immediately</a:t>
            </a:r>
          </a:p>
          <a:p>
            <a:pPr lvl="0" marL="457200" indent="-228600">
              <a:buFont typeface="Calibri"/>
              <a:spcAft>
                <a:spcPts val="1000"/>
              </a:spcAft>
              <a:buSzPct val="100000"/>
              <a:buChar char="•"/>
              <a:lnSpc>
                <a:spcPts val="2200"/>
              </a:lnSpc>
            </a:pPr>
            <a:r>
              <a:rPr sz="2000" b="0">
                <a:solidFill>
                  <a:srgbClr val="333333"/>
                </a:solidFill>
                <a:latin typeface="Calibri"/>
              </a:rPr>
              <a:t>The wave table shows eight cycles; click valid or ready cells to toggle</a:t>
            </a:r>
          </a:p>
          <a:p>
            <a:pPr lvl="0" marL="457200" indent="-228600">
              <a:buFont typeface="Calibri"/>
              <a:spcAft>
                <a:spcPts val="1000"/>
              </a:spcAft>
              <a:buSzPct val="100000"/>
              <a:buChar char="•"/>
              <a:lnSpc>
                <a:spcPts val="2200"/>
              </a:lnSpc>
            </a:pPr>
            <a:r>
              <a:rPr sz="2000" b="0">
                <a:solidFill>
                  <a:srgbClr val="333333"/>
                </a:solidFill>
                <a:latin typeface="Calibri"/>
              </a:rPr>
              <a:t>Step through cycles to see when fire lights up</a:t>
            </a:r>
          </a:p>
          <a:p>
            <a:pPr lvl="0" marL="457200" indent="-228600">
              <a:buFont typeface="Calibri"/>
              <a:spcAft>
                <a:spcPts val="1000"/>
              </a:spcAft>
              <a:buSzPct val="100000"/>
              <a:buChar char="•"/>
              <a:lnSpc>
                <a:spcPts val="2200"/>
              </a:lnSpc>
            </a:pPr>
            <a:r>
              <a:rPr sz="2000" b="0">
                <a:solidFill>
                  <a:srgbClr val="333333"/>
                </a:solidFill>
                <a:latin typeface="Calibri"/>
              </a:rPr>
              <a:t>Try source-stall preset, valid rises late while ready waits</a:t>
            </a:r>
          </a:p>
          <a:p>
            <a:pPr lvl="0" marL="457200" indent="-228600">
              <a:buFont typeface="Calibri"/>
              <a:spcAft>
                <a:spcPts val="1000"/>
              </a:spcAft>
              <a:buSzPct val="100000"/>
              <a:buChar char="•"/>
              <a:lnSpc>
                <a:spcPts val="2200"/>
              </a:lnSpc>
            </a:pPr>
            <a:r>
              <a:rPr sz="2000" b="0">
                <a:solidFill>
                  <a:srgbClr val="333333"/>
                </a:solidFill>
                <a:latin typeface="Calibri"/>
              </a:rPr>
              <a:t>Try sink-stall, valid held high until ready finally rises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handshake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Handshake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handshake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paper, draw valid and ready waveforms for one successful beat and one sink stall</a:t>
            </a:r>
          </a:p>
          <a:p>
            <a:pPr lvl="0" marL="457200" indent="-228600">
              <a:buFont typeface="Calibri"/>
              <a:spcAft>
                <a:spcPts val="1000"/>
              </a:spcAft>
              <a:buSzPct val="100000"/>
              <a:buChar char="•"/>
              <a:lnSpc>
                <a:spcPts val="2200"/>
              </a:lnSpc>
            </a:pPr>
            <a:r>
              <a:rPr sz="2000" b="0">
                <a:solidFill>
                  <a:srgbClr val="333333"/>
                </a:solidFill>
                <a:latin typeface="Calibri"/>
              </a:rPr>
              <a:t>Write the fire equation in words</a:t>
            </a:r>
          </a:p>
          <a:p>
            <a:pPr lvl="0" marL="457200" indent="-228600">
              <a:buFont typeface="Calibri"/>
              <a:spcAft>
                <a:spcPts val="1000"/>
              </a:spcAft>
              <a:buSzPct val="100000"/>
              <a:buChar char="•"/>
              <a:lnSpc>
                <a:spcPts val="2200"/>
              </a:lnSpc>
            </a:pPr>
            <a:r>
              <a:rPr sz="2000" b="0">
                <a:solidFill>
                  <a:srgbClr val="333333"/>
                </a:solidFill>
                <a:latin typeface="Calibri"/>
              </a:rPr>
              <a:t>Tabulate four cycles showing valid, ready, and whether a transfer happens</a:t>
            </a:r>
          </a:p>
          <a:p>
            <a:pPr lvl="0" marL="457200" indent="-228600">
              <a:buFont typeface="Calibri"/>
              <a:spcAft>
                <a:spcPts val="1000"/>
              </a:spcAft>
              <a:buSzPct val="100000"/>
              <a:buChar char="•"/>
              <a:lnSpc>
                <a:spcPts val="2200"/>
              </a:lnSpc>
            </a:pPr>
            <a:r>
              <a:rPr sz="2000" b="0">
                <a:solidFill>
                  <a:srgbClr val="333333"/>
                </a:solidFill>
                <a:latin typeface="Calibri"/>
              </a:rPr>
              <a:t>Explain what the source should do while valid is high and ready is still low</a:t>
            </a:r>
          </a:p>
          <a:p>
            <a:pPr lvl="0" marL="457200" indent="-228600">
              <a:buFont typeface="Calibri"/>
              <a:spcAft>
                <a:spcPts val="1000"/>
              </a:spcAft>
              <a:buSzPct val="100000"/>
              <a:buChar char="•"/>
              <a:lnSpc>
                <a:spcPts val="2200"/>
              </a:lnSpc>
            </a:pPr>
            <a:r>
              <a:rPr sz="2000" b="0">
                <a:solidFill>
                  <a:srgbClr val="333333"/>
                </a:solidFill>
                <a:latin typeface="Calibri"/>
              </a:rPr>
              <a:t>Name one place you might see this handshake style on chip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handshake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valid alone moves data, both sides must agree</a:t>
            </a:r>
          </a:p>
          <a:p>
            <a:pPr lvl="0" marL="457200" indent="-228600">
              <a:buFont typeface="Calibri"/>
              <a:spcAft>
                <a:spcPts val="1000"/>
              </a:spcAft>
              <a:buSzPct val="100000"/>
              <a:buChar char="•"/>
              <a:lnSpc>
                <a:spcPts val="2200"/>
              </a:lnSpc>
            </a:pPr>
            <a:r>
              <a:rPr sz="2000" b="0">
                <a:solidFill>
                  <a:srgbClr val="333333"/>
                </a:solidFill>
                <a:latin typeface="Calibri"/>
              </a:rPr>
              <a:t>Do not toggle data while waiting for ready; stability matters for real RTL</a:t>
            </a:r>
          </a:p>
          <a:p>
            <a:pPr lvl="0" marL="457200" indent="-228600">
              <a:buFont typeface="Calibri"/>
              <a:spcAft>
                <a:spcPts val="1000"/>
              </a:spcAft>
              <a:buSzPct val="100000"/>
              <a:buChar char="•"/>
              <a:lnSpc>
                <a:spcPts val="2200"/>
              </a:lnSpc>
            </a:pPr>
            <a:r>
              <a:rPr sz="2000" b="0">
                <a:solidFill>
                  <a:srgbClr val="333333"/>
                </a:solidFill>
                <a:latin typeface="Calibri"/>
              </a:rPr>
              <a:t>Avoid combinational loops where ready depends on valid in a way that creates a cycle</a:t>
            </a:r>
          </a:p>
          <a:p>
            <a:pPr lvl="0" marL="457200" indent="-228600">
              <a:buFont typeface="Calibri"/>
              <a:spcAft>
                <a:spcPts val="1000"/>
              </a:spcAft>
              <a:buSzPct val="100000"/>
              <a:buChar char="•"/>
              <a:lnSpc>
                <a:spcPts val="2200"/>
              </a:lnSpc>
            </a:pPr>
            <a:r>
              <a:rPr sz="2000" b="0">
                <a:solidFill>
                  <a:srgbClr val="333333"/>
                </a:solidFill>
                <a:latin typeface="Calibri"/>
              </a:rPr>
              <a:t>This lab is conceptual timing literacy, not a full protocol checker or VIP</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handshake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run together, source-stall, and sink-stall presets and count transfers</a:t>
            </a:r>
          </a:p>
          <a:p>
            <a:pPr lvl="0" marL="457200" indent="-228600">
              <a:buFont typeface="Calibri"/>
              <a:spcAft>
                <a:spcPts val="1000"/>
              </a:spcAft>
              <a:buSzPct val="100000"/>
              <a:buChar char="•"/>
              <a:lnSpc>
                <a:spcPts val="2200"/>
              </a:lnSpc>
            </a:pPr>
            <a:r>
              <a:rPr sz="2000" b="0">
                <a:solidFill>
                  <a:srgbClr val="333333"/>
                </a:solidFill>
                <a:latin typeface="Calibri"/>
              </a:rPr>
              <a:t>On paper, sketch a two-beat back-to-back burst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block-diagram integrator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handshake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