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sequence detector is an FSM that watches a serial bit stream and raises Z when a target pattern appears. State S-k means the first k bits of the pattern have already matched. On a mismatch, you do not always reset to S0—you jump to the longest proper prefix that still fits. Mealy detectors pulse Z on the transition that completes the match. Moore detectors add a dedicated detect state where Z stays high. Overlap lets a suffix of one match seed the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Mealy overlapping detector for pattern one-zero-one-one. Step stream one-zero-one-one—Z goes zero, zero, zero, one on the last bit. States track matched prefix: empty, one, one-zero, one-zero-one. Toggle overlap off and see restart behavior. Switch to Moore and Z comes from the detect state instead of the arc. Try pattern one-one-zero-one or a longer stream with two overlapping matches.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state row with prefix meanings, the transition table, and the bit-stream stepper with Z history. Load the starter—Mealy overlap on one-zero-one-one. Step one bit at a time, change pattern or style, watch the log. Use Check when a challenge looks done.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workbook track, draw the Mealy state diagram for detecting one-zero-one-one with overlap. Fill the transition table for S2 on inputs zero and one. Explain what state you enter after a failed bit. Sketch one overlapping case: one-zero-one-one-one should match twice. Name one pitfall: forgetting overlap when the pattern repeats inside itself.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Mealy pulse timing with Moore level timing—downstream logic may care. Prefix recovery is not optional; brute-force reset wastes matches. Non-overlap mode is a different spec—know which you need. And remember: the browser lab is literacy. Real RTL still needs correct encoding, reset state, and test streams.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paper, draw one Mealy detect arc and one overlap restart. When you are ready, take the short quiz, then continue to ring and Johnson counters.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Sequence detector</a:t>
            </a:r>
          </a:p>
          <a:p>
            <a:pPr algn="ctr">
              <a:lnSpc>
                <a:spcPts val="2200"/>
              </a:lnSpc>
              <a:spcBef>
                <a:spcPts val="1400"/>
              </a:spcBef>
            </a:pPr>
            <a:r>
              <a:rPr sz="2600" b="0">
                <a:solidFill>
                  <a:srgbClr val="333333"/>
                </a:solidFill>
                <a:latin typeface="Calibri"/>
              </a:rPr>
              <a:t>A sequence detector is an FSM that watches a serial bit stream and raises Z when a target pattern appears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seq detector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Detect 1011 starter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Mealy overlapping detector for pattern one-zero-one-one</a:t>
            </a:r>
          </a:p>
          <a:p>
            <a:pPr lvl="0" marL="457200" indent="-228600">
              <a:buFont typeface="Calibri"/>
              <a:spcAft>
                <a:spcPts val="1000"/>
              </a:spcAft>
              <a:buSzPct val="100000"/>
              <a:buChar char="•"/>
              <a:lnSpc>
                <a:spcPts val="2200"/>
              </a:lnSpc>
            </a:pPr>
            <a:r>
              <a:rPr sz="2000" b="0">
                <a:solidFill>
                  <a:srgbClr val="333333"/>
                </a:solidFill>
                <a:latin typeface="Calibri"/>
              </a:rPr>
              <a:t>Step stream one-zero-one-one, Z goes zero, zero, zero, one on the last bit</a:t>
            </a:r>
          </a:p>
          <a:p>
            <a:pPr lvl="0" marL="457200" indent="-228600">
              <a:buFont typeface="Calibri"/>
              <a:spcAft>
                <a:spcPts val="1000"/>
              </a:spcAft>
              <a:buSzPct val="100000"/>
              <a:buChar char="•"/>
              <a:lnSpc>
                <a:spcPts val="2200"/>
              </a:lnSpc>
            </a:pPr>
            <a:r>
              <a:rPr sz="2000" b="0">
                <a:solidFill>
                  <a:srgbClr val="333333"/>
                </a:solidFill>
                <a:latin typeface="Calibri"/>
              </a:rPr>
              <a:t>States track matched prefix: empty, one, one-zero, one-zero-one</a:t>
            </a:r>
          </a:p>
          <a:p>
            <a:pPr lvl="0" marL="457200" indent="-228600">
              <a:buFont typeface="Calibri"/>
              <a:spcAft>
                <a:spcPts val="1000"/>
              </a:spcAft>
              <a:buSzPct val="100000"/>
              <a:buChar char="•"/>
              <a:lnSpc>
                <a:spcPts val="2200"/>
              </a:lnSpc>
            </a:pPr>
            <a:r>
              <a:rPr sz="2000" b="0">
                <a:solidFill>
                  <a:srgbClr val="333333"/>
                </a:solidFill>
                <a:latin typeface="Calibri"/>
              </a:rPr>
              <a:t>Toggle overlap off and see restart behavior</a:t>
            </a:r>
          </a:p>
          <a:p>
            <a:pPr lvl="0" marL="457200" indent="-228600">
              <a:buFont typeface="Calibri"/>
              <a:spcAft>
                <a:spcPts val="1000"/>
              </a:spcAft>
              <a:buSzPct val="100000"/>
              <a:buChar char="•"/>
              <a:lnSpc>
                <a:spcPts val="2200"/>
              </a:lnSpc>
            </a:pPr>
            <a:r>
              <a:rPr sz="2000" b="0">
                <a:solidFill>
                  <a:srgbClr val="333333"/>
                </a:solidFill>
                <a:latin typeface="Calibri"/>
              </a:rPr>
              <a:t>Switch to Moore and Z comes from the detect state instead of the arc</a:t>
            </a:r>
          </a:p>
          <a:p>
            <a:pPr lvl="0" marL="457200" indent="-228600">
              <a:buFont typeface="Calibri"/>
              <a:spcAft>
                <a:spcPts val="1000"/>
              </a:spcAft>
              <a:buSzPct val="100000"/>
              <a:buChar char="•"/>
              <a:lnSpc>
                <a:spcPts val="2200"/>
              </a:lnSpc>
            </a:pPr>
            <a:r>
              <a:rPr sz="2000" b="0">
                <a:solidFill>
                  <a:srgbClr val="333333"/>
                </a:solidFill>
                <a:latin typeface="Calibri"/>
              </a:rPr>
              <a:t>Try pattern one-one-zero-one or a longer stream with two overlapping matches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seq detector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Sequence detector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seq detector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workbook track</a:t>
            </a:r>
          </a:p>
          <a:p>
            <a:pPr lvl="0" marL="457200" indent="-228600">
              <a:buFont typeface="Calibri"/>
              <a:spcAft>
                <a:spcPts val="1000"/>
              </a:spcAft>
              <a:buSzPct val="100000"/>
              <a:buChar char="•"/>
              <a:lnSpc>
                <a:spcPts val="2200"/>
              </a:lnSpc>
            </a:pPr>
            <a:r>
              <a:rPr sz="2000" b="0">
                <a:solidFill>
                  <a:srgbClr val="333333"/>
                </a:solidFill>
                <a:latin typeface="Calibri"/>
              </a:rPr>
              <a:t>Fill the transition table for S2 on inputs zero and one</a:t>
            </a:r>
          </a:p>
          <a:p>
            <a:pPr lvl="0" marL="457200" indent="-228600">
              <a:buFont typeface="Calibri"/>
              <a:spcAft>
                <a:spcPts val="1000"/>
              </a:spcAft>
              <a:buSzPct val="100000"/>
              <a:buChar char="•"/>
              <a:lnSpc>
                <a:spcPts val="2200"/>
              </a:lnSpc>
            </a:pPr>
            <a:r>
              <a:rPr sz="2000" b="0">
                <a:solidFill>
                  <a:srgbClr val="333333"/>
                </a:solidFill>
                <a:latin typeface="Calibri"/>
              </a:rPr>
              <a:t>Explain what state you enter after a failed bit</a:t>
            </a:r>
          </a:p>
          <a:p>
            <a:pPr lvl="0" marL="457200" indent="-228600">
              <a:buFont typeface="Calibri"/>
              <a:spcAft>
                <a:spcPts val="1000"/>
              </a:spcAft>
              <a:buSzPct val="100000"/>
              <a:buChar char="•"/>
              <a:lnSpc>
                <a:spcPts val="2200"/>
              </a:lnSpc>
            </a:pPr>
            <a:r>
              <a:rPr sz="2000" b="0">
                <a:solidFill>
                  <a:srgbClr val="333333"/>
                </a:solidFill>
                <a:latin typeface="Calibri"/>
              </a:rPr>
              <a:t>Sketch one overlapping case: one-zero-one-one-one should match twice</a:t>
            </a:r>
          </a:p>
          <a:p>
            <a:pPr lvl="0" marL="457200" indent="-228600">
              <a:buFont typeface="Calibri"/>
              <a:spcAft>
                <a:spcPts val="1000"/>
              </a:spcAft>
              <a:buSzPct val="100000"/>
              <a:buChar char="•"/>
              <a:lnSpc>
                <a:spcPts val="2200"/>
              </a:lnSpc>
            </a:pPr>
            <a:r>
              <a:rPr sz="2000" b="0">
                <a:solidFill>
                  <a:srgbClr val="333333"/>
                </a:solidFill>
                <a:latin typeface="Calibri"/>
              </a:rPr>
              <a:t>Name one pitfall: forgetting overlap when the pattern repeats inside itself</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seq detector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confuse Mealy pulse timing with Moore level timing, downstream logic may care</a:t>
            </a:r>
          </a:p>
          <a:p>
            <a:pPr lvl="0" marL="457200" indent="-228600">
              <a:buFont typeface="Calibri"/>
              <a:spcAft>
                <a:spcPts val="1000"/>
              </a:spcAft>
              <a:buSzPct val="100000"/>
              <a:buChar char="•"/>
              <a:lnSpc>
                <a:spcPts val="2200"/>
              </a:lnSpc>
            </a:pPr>
            <a:r>
              <a:rPr sz="2000" b="0">
                <a:solidFill>
                  <a:srgbClr val="333333"/>
                </a:solidFill>
                <a:latin typeface="Calibri"/>
              </a:rPr>
              <a:t>Prefix recovery is not optional; brute-force reset wastes matches</a:t>
            </a:r>
          </a:p>
          <a:p>
            <a:pPr lvl="0" marL="457200" indent="-228600">
              <a:buFont typeface="Calibri"/>
              <a:spcAft>
                <a:spcPts val="1000"/>
              </a:spcAft>
              <a:buSzPct val="100000"/>
              <a:buChar char="•"/>
              <a:lnSpc>
                <a:spcPts val="2200"/>
              </a:lnSpc>
            </a:pPr>
            <a:r>
              <a:rPr sz="2000" b="0">
                <a:solidFill>
                  <a:srgbClr val="333333"/>
                </a:solidFill>
                <a:latin typeface="Calibri"/>
              </a:rPr>
              <a:t>Non-overlap mode is a different spec, know which you need</a:t>
            </a:r>
          </a:p>
          <a:p>
            <a:pPr lvl="0" marL="457200" indent="-228600">
              <a:buFont typeface="Calibri"/>
              <a:spcAft>
                <a:spcPts val="1000"/>
              </a:spcAft>
              <a:buSzPct val="100000"/>
              <a:buChar char="•"/>
              <a:lnSpc>
                <a:spcPts val="2200"/>
              </a:lnSpc>
            </a:pPr>
            <a:r>
              <a:rPr sz="2000" b="0">
                <a:solidFill>
                  <a:srgbClr val="333333"/>
                </a:solidFill>
                <a:latin typeface="Calibri"/>
              </a:rPr>
              <a:t>And remember: the browser lab is literacy</a:t>
            </a:r>
          </a:p>
          <a:p>
            <a:pPr lvl="0" marL="457200" indent="-228600">
              <a:buFont typeface="Calibri"/>
              <a:spcAft>
                <a:spcPts val="1000"/>
              </a:spcAft>
              <a:buSzPct val="100000"/>
              <a:buChar char="•"/>
              <a:lnSpc>
                <a:spcPts val="2200"/>
              </a:lnSpc>
            </a:pPr>
            <a:r>
              <a:rPr sz="2000" b="0">
                <a:solidFill>
                  <a:srgbClr val="333333"/>
                </a:solidFill>
                <a:latin typeface="Calibri"/>
              </a:rPr>
              <a:t>Real RTL still needs correct encoding, reset state, and test streams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seq detector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paper, draw one Mealy detect arc and one overlap restart</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ring and Johnson counters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seq detector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