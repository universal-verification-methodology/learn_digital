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and status registers pack flags and counters into one word. A field lives between hi and lo inclusive. Extract shifts right by lo after masking; insert clears the slice with not-mask, then ORs the new value. This module makes CSR pack and unpack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Field width is hi minus lo plus one. Bit zero is the LSB in this lab. Before you OR an insert, clear the old field with the inverted mask so neighboring bits stay put. An unmasked insert value can spill into other fields. Show the mask formula when you want the bit picture.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word bit view with named fields, and Extract, Insert, or Pack controls. Load the starter word hex A-five-two-D. Extract COUNT in bits seven through three—you should get five. Try TAG and ENABLE, then insert a new COUNT. Pack a full CSR when you want the assemble path.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take word A-five-two-D. Extract COUNT at seven to three by hand and confirm five. Clear that field with insert zero and check TAG is unchanged. Write width of MODE at two to one as two. Name one pitfall: inserting without masking so bits spill.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bit zero is MSB—this lab uses LSB numbering. Overlapping fields or wrong hi and lo break packs. And remember: the browser lab is literacy. Real CSRs still need a spec for reset values, access types, and side effects.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extract and insert one field by hand. When you are ready, take the short quiz, then continue to endian packing.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Bit-fields</a:t>
            </a:r>
          </a:p>
          <a:p>
            <a:pPr algn="ctr">
              <a:lnSpc>
                <a:spcPts val="2200"/>
              </a:lnSpc>
              <a:spcBef>
                <a:spcPts val="1400"/>
              </a:spcBef>
            </a:pPr>
            <a:r>
              <a:rPr sz="2600" b="0">
                <a:solidFill>
                  <a:srgbClr val="333333"/>
                </a:solidFill>
                <a:latin typeface="Calibri"/>
              </a:rPr>
              <a:t>Control and status registers pack flags and counters into one word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bit fields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Extract, insert, mask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Field width is hi minus lo plus one</a:t>
            </a:r>
          </a:p>
          <a:p>
            <a:pPr lvl="0" marL="457200" indent="-228600">
              <a:buFont typeface="Calibri"/>
              <a:spcAft>
                <a:spcPts val="1000"/>
              </a:spcAft>
              <a:buSzPct val="100000"/>
              <a:buChar char="•"/>
              <a:lnSpc>
                <a:spcPts val="2200"/>
              </a:lnSpc>
            </a:pPr>
            <a:r>
              <a:rPr sz="2000" b="0">
                <a:solidFill>
                  <a:srgbClr val="333333"/>
                </a:solidFill>
                <a:latin typeface="Calibri"/>
              </a:rPr>
              <a:t>Bit zero is the LSB in this lab</a:t>
            </a:r>
          </a:p>
          <a:p>
            <a:pPr lvl="0" marL="457200" indent="-228600">
              <a:buFont typeface="Calibri"/>
              <a:spcAft>
                <a:spcPts val="1000"/>
              </a:spcAft>
              <a:buSzPct val="100000"/>
              <a:buChar char="•"/>
              <a:lnSpc>
                <a:spcPts val="2200"/>
              </a:lnSpc>
            </a:pPr>
            <a:r>
              <a:rPr sz="2000" b="0">
                <a:solidFill>
                  <a:srgbClr val="333333"/>
                </a:solidFill>
                <a:latin typeface="Calibri"/>
              </a:rPr>
              <a:t>Before you OR an insert</a:t>
            </a:r>
          </a:p>
          <a:p>
            <a:pPr lvl="0" marL="457200" indent="-228600">
              <a:buFont typeface="Calibri"/>
              <a:spcAft>
                <a:spcPts val="1000"/>
              </a:spcAft>
              <a:buSzPct val="100000"/>
              <a:buChar char="•"/>
              <a:lnSpc>
                <a:spcPts val="2200"/>
              </a:lnSpc>
            </a:pPr>
            <a:r>
              <a:rPr sz="2000" b="0">
                <a:solidFill>
                  <a:srgbClr val="333333"/>
                </a:solidFill>
                <a:latin typeface="Calibri"/>
              </a:rPr>
              <a:t>An unmasked insert value can spill into other fields</a:t>
            </a:r>
          </a:p>
          <a:p>
            <a:pPr lvl="0" marL="457200" indent="-228600">
              <a:buFont typeface="Calibri"/>
              <a:spcAft>
                <a:spcPts val="1000"/>
              </a:spcAft>
              <a:buSzPct val="100000"/>
              <a:buChar char="•"/>
              <a:lnSpc>
                <a:spcPts val="2200"/>
              </a:lnSpc>
            </a:pPr>
            <a:r>
              <a:rPr sz="2000" b="0">
                <a:solidFill>
                  <a:srgbClr val="333333"/>
                </a:solidFill>
                <a:latin typeface="Calibri"/>
              </a:rPr>
              <a:t>Show the mask formula when you want the bit picture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bit fields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Bit-fields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bit fields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take word A-five-two-D</a:t>
            </a:r>
          </a:p>
          <a:p>
            <a:pPr lvl="0" marL="457200" indent="-228600">
              <a:buFont typeface="Calibri"/>
              <a:spcAft>
                <a:spcPts val="1000"/>
              </a:spcAft>
              <a:buSzPct val="100000"/>
              <a:buChar char="•"/>
              <a:lnSpc>
                <a:spcPts val="2200"/>
              </a:lnSpc>
            </a:pPr>
            <a:r>
              <a:rPr sz="2000" b="0">
                <a:solidFill>
                  <a:srgbClr val="333333"/>
                </a:solidFill>
                <a:latin typeface="Calibri"/>
              </a:rPr>
              <a:t>Extract COUNT at seven to three by hand and confirm five</a:t>
            </a:r>
          </a:p>
          <a:p>
            <a:pPr lvl="0" marL="457200" indent="-228600">
              <a:buFont typeface="Calibri"/>
              <a:spcAft>
                <a:spcPts val="1000"/>
              </a:spcAft>
              <a:buSzPct val="100000"/>
              <a:buChar char="•"/>
              <a:lnSpc>
                <a:spcPts val="2200"/>
              </a:lnSpc>
            </a:pPr>
            <a:r>
              <a:rPr sz="2000" b="0">
                <a:solidFill>
                  <a:srgbClr val="333333"/>
                </a:solidFill>
                <a:latin typeface="Calibri"/>
              </a:rPr>
              <a:t>Clear that field with insert zero and check TAG is unchanged</a:t>
            </a:r>
          </a:p>
          <a:p>
            <a:pPr lvl="0" marL="457200" indent="-228600">
              <a:buFont typeface="Calibri"/>
              <a:spcAft>
                <a:spcPts val="1000"/>
              </a:spcAft>
              <a:buSzPct val="100000"/>
              <a:buChar char="•"/>
              <a:lnSpc>
                <a:spcPts val="2200"/>
              </a:lnSpc>
            </a:pPr>
            <a:r>
              <a:rPr sz="2000" b="0">
                <a:solidFill>
                  <a:srgbClr val="333333"/>
                </a:solidFill>
                <a:latin typeface="Calibri"/>
              </a:rPr>
              <a:t>Write width of MODE at two to one as two</a:t>
            </a:r>
          </a:p>
          <a:p>
            <a:pPr lvl="0" marL="457200" indent="-228600">
              <a:buFont typeface="Calibri"/>
              <a:spcAft>
                <a:spcPts val="1000"/>
              </a:spcAft>
              <a:buSzPct val="100000"/>
              <a:buChar char="•"/>
              <a:lnSpc>
                <a:spcPts val="2200"/>
              </a:lnSpc>
            </a:pPr>
            <a:r>
              <a:rPr sz="2000" b="0">
                <a:solidFill>
                  <a:srgbClr val="333333"/>
                </a:solidFill>
                <a:latin typeface="Calibri"/>
              </a:rPr>
              <a:t>Name one pitfall: inserting without masking so bits spill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bit fields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bit zero is MSB, this lab uses LSB numbering</a:t>
            </a:r>
          </a:p>
          <a:p>
            <a:pPr lvl="0" marL="457200" indent="-228600">
              <a:buFont typeface="Calibri"/>
              <a:spcAft>
                <a:spcPts val="1000"/>
              </a:spcAft>
              <a:buSzPct val="100000"/>
              <a:buChar char="•"/>
              <a:lnSpc>
                <a:spcPts val="2200"/>
              </a:lnSpc>
            </a:pPr>
            <a:r>
              <a:rPr sz="2000" b="0">
                <a:solidFill>
                  <a:srgbClr val="333333"/>
                </a:solidFill>
                <a:latin typeface="Calibri"/>
              </a:rPr>
              <a:t>Overlapping fields or wrong hi and lo break packs</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CSRs still need a spec for reset values, access types, and side effects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bit fields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extract and insert one field by hand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endian packing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bit fields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