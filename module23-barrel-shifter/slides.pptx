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barrel shifter moves every bit in one operation—logical left, logical right, arithmetic right, or rotate. For eight bits you need three mux stages, not seven serial shifts. Each amount bit enables a power-of-two stage: one, two, or four positions. Amount three fires stages one and two together—that is one plus two, not three times one. This module makes stage selection and modes concrete.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Starter: hex D two is one-one-zero-one-zero-zero-one-zero. Logical left by three enables amount bits one and two. After stage one you get one-zero-one-zero-zero-one-zero-zero; after stage two the result is one-zero-zero-one-zero-zero-zero-zero—hex nine zero. Logical right fills with zeros from the left. Arithmetic right replicates the sign bit. Rotate wraps bits with no fill loss. Critical path is about three mux delays, not the shift distance.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look at three pieces: the challenge panel, the input bits and stage diagram, and the hex result readouts. Load the starter—hex D two shifted left by three toward hex nine zero. Step stages or show all, then try SRA or rotate presets. Use Check when a challenge looks done.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workbook track, SLL hex eight zero right by one and give the result. For amount five, list which power-of-two stages fire. Sketch three mux layers for an eight-bit barrel. Contrast SRL and SRA on a negative pattern. Name one pitfall: confusing barrel stages with counting single-bit shifts one at a time.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assume amount N means N serial one-bit layers—decode the amount into power-of-two enables. SRA and SRL differ only in the fill bit. And remember: the browser lab is literacy. Real ALUs still need variable-width rules, flags, and synthesis constraints beyond this eight-bit toy.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finish a few challenges after the starter. On paper, trace one starter stage by stage. When you are ready, take the short quiz, then continue to seven segment.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Barrel shifter</a:t>
            </a:r>
          </a:p>
          <a:p>
            <a:pPr algn="ctr">
              <a:lnSpc>
                <a:spcPts val="2200"/>
              </a:lnSpc>
              <a:spcBef>
                <a:spcPts val="1400"/>
              </a:spcBef>
            </a:pPr>
            <a:r>
              <a:rPr sz="2600" b="0">
                <a:solidFill>
                  <a:srgbClr val="333333"/>
                </a:solidFill>
                <a:latin typeface="Calibri"/>
              </a:rPr>
              <a:t>A barrel shifter moves every bit in one operation, logical left, logical right, arithmetic right, or rotate</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barrel shifter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Stages, modes, result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Starter: hex D two is one-one-zero-one-zero-zero-one-zero</a:t>
            </a:r>
          </a:p>
          <a:p>
            <a:pPr lvl="0" marL="457200" indent="-228600">
              <a:buFont typeface="Calibri"/>
              <a:spcAft>
                <a:spcPts val="1000"/>
              </a:spcAft>
              <a:buSzPct val="100000"/>
              <a:buChar char="•"/>
              <a:lnSpc>
                <a:spcPts val="2200"/>
              </a:lnSpc>
            </a:pPr>
            <a:r>
              <a:rPr sz="2000" b="0">
                <a:solidFill>
                  <a:srgbClr val="333333"/>
                </a:solidFill>
                <a:latin typeface="Calibri"/>
              </a:rPr>
              <a:t>Logical left by three enables amount bits one and two</a:t>
            </a:r>
          </a:p>
          <a:p>
            <a:pPr lvl="0" marL="457200" indent="-228600">
              <a:buFont typeface="Calibri"/>
              <a:spcAft>
                <a:spcPts val="1000"/>
              </a:spcAft>
              <a:buSzPct val="100000"/>
              <a:buChar char="•"/>
              <a:lnSpc>
                <a:spcPts val="2200"/>
              </a:lnSpc>
            </a:pPr>
            <a:r>
              <a:rPr sz="2000" b="0">
                <a:solidFill>
                  <a:srgbClr val="333333"/>
                </a:solidFill>
                <a:latin typeface="Calibri"/>
              </a:rPr>
              <a:t>After stage one you get one-zero-one-zero-zero-one-zero-zero</a:t>
            </a:r>
          </a:p>
          <a:p>
            <a:pPr lvl="0" marL="457200" indent="-228600">
              <a:buFont typeface="Calibri"/>
              <a:spcAft>
                <a:spcPts val="1000"/>
              </a:spcAft>
              <a:buSzPct val="100000"/>
              <a:buChar char="•"/>
              <a:lnSpc>
                <a:spcPts val="2200"/>
              </a:lnSpc>
            </a:pPr>
            <a:r>
              <a:rPr sz="2000" b="0">
                <a:solidFill>
                  <a:srgbClr val="333333"/>
                </a:solidFill>
                <a:latin typeface="Calibri"/>
              </a:rPr>
              <a:t>Logical right fills with zeros from the left</a:t>
            </a:r>
          </a:p>
          <a:p>
            <a:pPr lvl="0" marL="457200" indent="-228600">
              <a:buFont typeface="Calibri"/>
              <a:spcAft>
                <a:spcPts val="1000"/>
              </a:spcAft>
              <a:buSzPct val="100000"/>
              <a:buChar char="•"/>
              <a:lnSpc>
                <a:spcPts val="2200"/>
              </a:lnSpc>
            </a:pPr>
            <a:r>
              <a:rPr sz="2000" b="0">
                <a:solidFill>
                  <a:srgbClr val="333333"/>
                </a:solidFill>
                <a:latin typeface="Calibri"/>
              </a:rPr>
              <a:t>Arithmetic right replicates the sign bit</a:t>
            </a:r>
          </a:p>
          <a:p>
            <a:pPr lvl="0" marL="457200" indent="-228600">
              <a:buFont typeface="Calibri"/>
              <a:spcAft>
                <a:spcPts val="1000"/>
              </a:spcAft>
              <a:buSzPct val="100000"/>
              <a:buChar char="•"/>
              <a:lnSpc>
                <a:spcPts val="2200"/>
              </a:lnSpc>
            </a:pPr>
            <a:r>
              <a:rPr sz="2000" b="0">
                <a:solidFill>
                  <a:srgbClr val="333333"/>
                </a:solidFill>
                <a:latin typeface="Calibri"/>
              </a:rPr>
              <a:t>Rotate wraps bits with no fill loss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barrel shifter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73152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Barrel shifter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barrel shifter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Workbook practice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the workbook track, SLL hex eight zero right by one and give the result</a:t>
            </a:r>
          </a:p>
          <a:p>
            <a:pPr lvl="0" marL="457200" indent="-228600">
              <a:buFont typeface="Calibri"/>
              <a:spcAft>
                <a:spcPts val="1000"/>
              </a:spcAft>
              <a:buSzPct val="100000"/>
              <a:buChar char="•"/>
              <a:lnSpc>
                <a:spcPts val="2200"/>
              </a:lnSpc>
            </a:pPr>
            <a:r>
              <a:rPr sz="2000" b="0">
                <a:solidFill>
                  <a:srgbClr val="333333"/>
                </a:solidFill>
                <a:latin typeface="Calibri"/>
              </a:rPr>
              <a:t>For amount five, list which power-of-two stages fire</a:t>
            </a:r>
          </a:p>
          <a:p>
            <a:pPr lvl="0" marL="457200" indent="-228600">
              <a:buFont typeface="Calibri"/>
              <a:spcAft>
                <a:spcPts val="1000"/>
              </a:spcAft>
              <a:buSzPct val="100000"/>
              <a:buChar char="•"/>
              <a:lnSpc>
                <a:spcPts val="2200"/>
              </a:lnSpc>
            </a:pPr>
            <a:r>
              <a:rPr sz="2000" b="0">
                <a:solidFill>
                  <a:srgbClr val="333333"/>
                </a:solidFill>
                <a:latin typeface="Calibri"/>
              </a:rPr>
              <a:t>Sketch three mux layers for an eight-bit barrel</a:t>
            </a:r>
          </a:p>
          <a:p>
            <a:pPr lvl="0" marL="457200" indent="-228600">
              <a:buFont typeface="Calibri"/>
              <a:spcAft>
                <a:spcPts val="1000"/>
              </a:spcAft>
              <a:buSzPct val="100000"/>
              <a:buChar char="•"/>
              <a:lnSpc>
                <a:spcPts val="2200"/>
              </a:lnSpc>
            </a:pPr>
            <a:r>
              <a:rPr sz="2000" b="0">
                <a:solidFill>
                  <a:srgbClr val="333333"/>
                </a:solidFill>
                <a:latin typeface="Calibri"/>
              </a:rPr>
              <a:t>Contrast SRL and SRA on a negative pattern</a:t>
            </a:r>
          </a:p>
          <a:p>
            <a:pPr lvl="0" marL="457200" indent="-228600">
              <a:buFont typeface="Calibri"/>
              <a:spcAft>
                <a:spcPts val="1000"/>
              </a:spcAft>
              <a:buSzPct val="100000"/>
              <a:buChar char="•"/>
              <a:lnSpc>
                <a:spcPts val="2200"/>
              </a:lnSpc>
            </a:pPr>
            <a:r>
              <a:rPr sz="2000" b="0">
                <a:solidFill>
                  <a:srgbClr val="333333"/>
                </a:solidFill>
                <a:latin typeface="Calibri"/>
              </a:rPr>
              <a:t>Name one pitfall: confusing barrel stages with counting single-bit shifts one at a time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barrel shifter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assume amount N means N serial one-bit layers</a:t>
            </a:r>
          </a:p>
          <a:p>
            <a:pPr lvl="0" marL="457200" indent="-228600">
              <a:buFont typeface="Calibri"/>
              <a:spcAft>
                <a:spcPts val="1000"/>
              </a:spcAft>
              <a:buSzPct val="100000"/>
              <a:buChar char="•"/>
              <a:lnSpc>
                <a:spcPts val="2200"/>
              </a:lnSpc>
            </a:pPr>
            <a:r>
              <a:rPr sz="2000" b="0">
                <a:solidFill>
                  <a:srgbClr val="333333"/>
                </a:solidFill>
                <a:latin typeface="Calibri"/>
              </a:rPr>
              <a:t>SRA and SRL differ only in the fill bit</a:t>
            </a:r>
          </a:p>
          <a:p>
            <a:pPr lvl="0" marL="457200" indent="-228600">
              <a:buFont typeface="Calibri"/>
              <a:spcAft>
                <a:spcPts val="1000"/>
              </a:spcAft>
              <a:buSzPct val="100000"/>
              <a:buChar char="•"/>
              <a:lnSpc>
                <a:spcPts val="2200"/>
              </a:lnSpc>
            </a:pPr>
            <a:r>
              <a:rPr sz="2000" b="0">
                <a:solidFill>
                  <a:srgbClr val="333333"/>
                </a:solidFill>
                <a:latin typeface="Calibri"/>
              </a:rPr>
              <a:t>And remember: the browser lab is literacy</a:t>
            </a:r>
          </a:p>
          <a:p>
            <a:pPr lvl="0" marL="457200" indent="-228600">
              <a:buFont typeface="Calibri"/>
              <a:spcAft>
                <a:spcPts val="1000"/>
              </a:spcAft>
              <a:buSzPct val="100000"/>
              <a:buChar char="•"/>
              <a:lnSpc>
                <a:spcPts val="2200"/>
              </a:lnSpc>
            </a:pPr>
            <a:r>
              <a:rPr sz="2000" b="0">
                <a:solidFill>
                  <a:srgbClr val="333333"/>
                </a:solidFill>
                <a:latin typeface="Calibri"/>
              </a:rPr>
              <a:t>Real ALUs still need variable-width rules, flags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barrel shifter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 finish a few challenges after the starter</a:t>
            </a:r>
          </a:p>
          <a:p>
            <a:pPr lvl="0" marL="457200" indent="-228600">
              <a:buFont typeface="Calibri"/>
              <a:spcAft>
                <a:spcPts val="1000"/>
              </a:spcAft>
              <a:buSzPct val="100000"/>
              <a:buChar char="•"/>
              <a:lnSpc>
                <a:spcPts val="2200"/>
              </a:lnSpc>
            </a:pPr>
            <a:r>
              <a:rPr sz="2000" b="0">
                <a:solidFill>
                  <a:srgbClr val="333333"/>
                </a:solidFill>
                <a:latin typeface="Calibri"/>
              </a:rPr>
              <a:t>On paper, trace one starter stage by stage</a:t>
            </a:r>
          </a:p>
          <a:p>
            <a:pPr lvl="0" marL="457200" indent="-228600">
              <a:buFont typeface="Calibri"/>
              <a:spcAft>
                <a:spcPts val="1000"/>
              </a:spcAft>
              <a:buSzPct val="100000"/>
              <a:buChar char="•"/>
              <a:lnSpc>
                <a:spcPts val="2200"/>
              </a:lnSpc>
            </a:pPr>
            <a:r>
              <a:rPr sz="2000" b="0">
                <a:solidFill>
                  <a:srgbClr val="333333"/>
                </a:solidFill>
                <a:latin typeface="Calibri"/>
              </a:rPr>
              <a:t>When you are ready, take the short quiz, then continue to seven segment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barrel shifter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