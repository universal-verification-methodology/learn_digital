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Addition starts with a half adder: sum is A xor B, carry is A and B—but there is no carry-in, so it cannot sit alone in a multi-bit column. A full adder adds carry-in: sum is A xor B xor Cin, carry-out is majority of the three inputs. Two half adders plus an OR on the carries build a full adder. Chain full adders and you get ripple-carry addition. This module makes all three levels concrete.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Half adder truth: zero plus zero gives sum zero, carry zero; one plus one gives sum zero, carry one. Full adder with A, B, and Cin all one gives sum one and carry-out one—majority wins. Compose view: first HA on A and B yields S one and C one; second HA on S one and Cin yields sum one and another carry; Cout is C one or C two. Ripple two bits: FA zero adds the least column with Cin zero; FA one takes the carry into the next column.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look at three pieces: the challenge panel, the adder diagram and truth table, and the input toggles. Load the starter—a half adder with A equals one, B equals one, so S equals zero and C equals one. Switch to full adder, compose, or ripple mode and hit Explain to see the step trace. Use Check when a challenge looks done.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workbook track, fill the half-adder truth table for all four A-B pairs. For full adder A equals one, B equals zero, Cin equals one, give S and Cout. Sketch two half adders and an OR as one full adder. For two-bit ripple with A equals one-zero and B equals one-one, name S zero, S one, and final Cout. Name one pitfall: using a half adder where a column needs carry-in.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confuse half-adder carry with full-adder carry-out—they solve different problems. Majority carry is not the same as HA carry alone when Cin is in play. And remember: the browser lab is literacy. Real adders still need timing, overflow flags, and faster carry schemes beyond naive ripple.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finish a few challenges after the starter. On paper, draw one HA truth table and one FA from two HAs. When you are ready, take the short quiz, then continue to XOR parity tree.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Half / full adder</a:t>
            </a:r>
          </a:p>
          <a:p>
            <a:pPr algn="ctr">
              <a:lnSpc>
                <a:spcPts val="2200"/>
              </a:lnSpc>
              <a:spcBef>
                <a:spcPts val="1400"/>
              </a:spcBef>
            </a:pPr>
            <a:r>
              <a:rPr sz="2600" b="0">
                <a:solidFill>
                  <a:srgbClr val="333333"/>
                </a:solidFill>
                <a:latin typeface="Calibri"/>
              </a:rPr>
              <a:t>Addition starts with a half adder</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half full adder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Sum, carry, chain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Half adder truth</a:t>
            </a:r>
          </a:p>
          <a:p>
            <a:pPr lvl="0" marL="457200" indent="-228600">
              <a:buFont typeface="Calibri"/>
              <a:spcAft>
                <a:spcPts val="1000"/>
              </a:spcAft>
              <a:buSzPct val="100000"/>
              <a:buChar char="•"/>
              <a:lnSpc>
                <a:spcPts val="2200"/>
              </a:lnSpc>
            </a:pPr>
            <a:r>
              <a:rPr sz="2000" b="0">
                <a:solidFill>
                  <a:srgbClr val="333333"/>
                </a:solidFill>
                <a:latin typeface="Calibri"/>
              </a:rPr>
              <a:t>Full adder with A, B, and Cin all one gives sum one and carry-out one, majority wins</a:t>
            </a:r>
          </a:p>
          <a:p>
            <a:pPr lvl="0" marL="457200" indent="-228600">
              <a:buFont typeface="Calibri"/>
              <a:spcAft>
                <a:spcPts val="1000"/>
              </a:spcAft>
              <a:buSzPct val="100000"/>
              <a:buChar char="•"/>
              <a:lnSpc>
                <a:spcPts val="2200"/>
              </a:lnSpc>
            </a:pPr>
            <a:r>
              <a:rPr sz="2000" b="0">
                <a:solidFill>
                  <a:srgbClr val="333333"/>
                </a:solidFill>
                <a:latin typeface="Calibri"/>
              </a:rPr>
              <a:t>Compose view</a:t>
            </a:r>
          </a:p>
          <a:p>
            <a:pPr lvl="0" marL="457200" indent="-228600">
              <a:buFont typeface="Calibri"/>
              <a:spcAft>
                <a:spcPts val="1000"/>
              </a:spcAft>
              <a:buSzPct val="100000"/>
              <a:buChar char="•"/>
              <a:lnSpc>
                <a:spcPts val="2200"/>
              </a:lnSpc>
            </a:pPr>
            <a:r>
              <a:rPr sz="2000" b="0">
                <a:solidFill>
                  <a:srgbClr val="333333"/>
                </a:solidFill>
                <a:latin typeface="Calibri"/>
              </a:rPr>
              <a:t>Ripple two bits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half full adder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Half full adder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half full adder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Workbook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the workbook track, fill the half-adder truth table for all four A-B pairs</a:t>
            </a:r>
          </a:p>
          <a:p>
            <a:pPr lvl="0" marL="457200" indent="-228600">
              <a:buFont typeface="Calibri"/>
              <a:spcAft>
                <a:spcPts val="1000"/>
              </a:spcAft>
              <a:buSzPct val="100000"/>
              <a:buChar char="•"/>
              <a:lnSpc>
                <a:spcPts val="2200"/>
              </a:lnSpc>
            </a:pPr>
            <a:r>
              <a:rPr sz="2000" b="0">
                <a:solidFill>
                  <a:srgbClr val="333333"/>
                </a:solidFill>
                <a:latin typeface="Calibri"/>
              </a:rPr>
              <a:t>For full adder A equals one, B equals zero, Cin equals one, give S and Cout</a:t>
            </a:r>
          </a:p>
          <a:p>
            <a:pPr lvl="0" marL="457200" indent="-228600">
              <a:buFont typeface="Calibri"/>
              <a:spcAft>
                <a:spcPts val="1000"/>
              </a:spcAft>
              <a:buSzPct val="100000"/>
              <a:buChar char="•"/>
              <a:lnSpc>
                <a:spcPts val="2200"/>
              </a:lnSpc>
            </a:pPr>
            <a:r>
              <a:rPr sz="2000" b="0">
                <a:solidFill>
                  <a:srgbClr val="333333"/>
                </a:solidFill>
                <a:latin typeface="Calibri"/>
              </a:rPr>
              <a:t>Sketch two half adders and an OR as one full adder</a:t>
            </a:r>
          </a:p>
          <a:p>
            <a:pPr lvl="0" marL="457200" indent="-228600">
              <a:buFont typeface="Calibri"/>
              <a:spcAft>
                <a:spcPts val="1000"/>
              </a:spcAft>
              <a:buSzPct val="100000"/>
              <a:buChar char="•"/>
              <a:lnSpc>
                <a:spcPts val="2200"/>
              </a:lnSpc>
            </a:pPr>
            <a:r>
              <a:rPr sz="2000" b="0">
                <a:solidFill>
                  <a:srgbClr val="333333"/>
                </a:solidFill>
                <a:latin typeface="Calibri"/>
              </a:rPr>
              <a:t>For two-bit ripple with A equals one-zero and B equals one-one, name S zero, S one</a:t>
            </a:r>
          </a:p>
          <a:p>
            <a:pPr lvl="0" marL="457200" indent="-228600">
              <a:buFont typeface="Calibri"/>
              <a:spcAft>
                <a:spcPts val="1000"/>
              </a:spcAft>
              <a:buSzPct val="100000"/>
              <a:buChar char="•"/>
              <a:lnSpc>
                <a:spcPts val="2200"/>
              </a:lnSpc>
            </a:pPr>
            <a:r>
              <a:rPr sz="2000" b="0">
                <a:solidFill>
                  <a:srgbClr val="333333"/>
                </a:solidFill>
                <a:latin typeface="Calibri"/>
              </a:rPr>
              <a:t>Name one pitfall: using a half adder where a column needs carry-in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half full adder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confuse half-adder carry with full-adder carry-out, they solve different problems</a:t>
            </a:r>
          </a:p>
          <a:p>
            <a:pPr lvl="0" marL="457200" indent="-228600">
              <a:buFont typeface="Calibri"/>
              <a:spcAft>
                <a:spcPts val="1000"/>
              </a:spcAft>
              <a:buSzPct val="100000"/>
              <a:buChar char="•"/>
              <a:lnSpc>
                <a:spcPts val="2200"/>
              </a:lnSpc>
            </a:pPr>
            <a:r>
              <a:rPr sz="2000" b="0">
                <a:solidFill>
                  <a:srgbClr val="333333"/>
                </a:solidFill>
                <a:latin typeface="Calibri"/>
              </a:rPr>
              <a:t>Majority carry is not the same as HA carry alone when Cin is in play</a:t>
            </a:r>
          </a:p>
          <a:p>
            <a:pPr lvl="0" marL="457200" indent="-228600">
              <a:buFont typeface="Calibri"/>
              <a:spcAft>
                <a:spcPts val="1000"/>
              </a:spcAft>
              <a:buSzPct val="100000"/>
              <a:buChar char="•"/>
              <a:lnSpc>
                <a:spcPts val="2200"/>
              </a:lnSpc>
            </a:pPr>
            <a:r>
              <a:rPr sz="2000" b="0">
                <a:solidFill>
                  <a:srgbClr val="333333"/>
                </a:solidFill>
                <a:latin typeface="Calibri"/>
              </a:rPr>
              <a:t>And remember: the browser lab is literacy</a:t>
            </a:r>
          </a:p>
          <a:p>
            <a:pPr lvl="0" marL="457200" indent="-228600">
              <a:buFont typeface="Calibri"/>
              <a:spcAft>
                <a:spcPts val="1000"/>
              </a:spcAft>
              <a:buSzPct val="100000"/>
              <a:buChar char="•"/>
              <a:lnSpc>
                <a:spcPts val="2200"/>
              </a:lnSpc>
            </a:pPr>
            <a:r>
              <a:rPr sz="2000" b="0">
                <a:solidFill>
                  <a:srgbClr val="333333"/>
                </a:solidFill>
                <a:latin typeface="Calibri"/>
              </a:rPr>
              <a:t>Real adders still need timing, overflow flags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half full adder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finish a few challenges after the starter</a:t>
            </a:r>
          </a:p>
          <a:p>
            <a:pPr lvl="0" marL="457200" indent="-228600">
              <a:buFont typeface="Calibri"/>
              <a:spcAft>
                <a:spcPts val="1000"/>
              </a:spcAft>
              <a:buSzPct val="100000"/>
              <a:buChar char="•"/>
              <a:lnSpc>
                <a:spcPts val="2200"/>
              </a:lnSpc>
            </a:pPr>
            <a:r>
              <a:rPr sz="2000" b="0">
                <a:solidFill>
                  <a:srgbClr val="333333"/>
                </a:solidFill>
                <a:latin typeface="Calibri"/>
              </a:rPr>
              <a:t>On paper, draw one HA truth table and one FA from two HAs</a:t>
            </a:r>
          </a:p>
          <a:p>
            <a:pPr lvl="0" marL="457200" indent="-228600">
              <a:buFont typeface="Calibri"/>
              <a:spcAft>
                <a:spcPts val="1000"/>
              </a:spcAft>
              <a:buSzPct val="100000"/>
              <a:buChar char="•"/>
              <a:lnSpc>
                <a:spcPts val="2200"/>
              </a:lnSpc>
            </a:pPr>
            <a:r>
              <a:rPr sz="2000" b="0">
                <a:solidFill>
                  <a:srgbClr val="333333"/>
                </a:solidFill>
                <a:latin typeface="Calibri"/>
              </a:rPr>
              <a:t>When you are ready, take the short quiz, then continue to XOR parity tree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half full adder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