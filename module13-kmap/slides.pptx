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Karnaugh map lays truth-table ones on a grid so adjacent cells differ by one bit. Group the ones into pairs, quads, or octets—edges wrap. The result is a minimal sum-of-products without listing every row. This module makes fill, group, and read SOP concrete.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Two-variable maps use Gray order on both axes. Three and four variables add more cells but the same rule: circle the largest legal groups. A group of four drops two literals. Don’t-care X cells can join a group when they help. Pick the minimal SOP when the challenge asks—one term per group.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look at three pieces: the challenge panel, the Karnaugh map grid, and variable or fill controls. Load the starter—a two-variable XOR pattern. Toggle cells to match a prompt, or load a challenge map directly. Try a three-variable majority or a wrap quad on four variables. Use Check when the map or SOP pick looks done.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workbook track, sketch a two-input XOR map by hand and write its SOP. On three variables, group ones for at least two of A, B, or C. Mark why top and bottom rows are neighbors on a four-var map. Name one pitfall: grouping only in a straight line and missing a wrap-around quad.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treat diagonal cells as adjacent—they are not. A group must be a power-of-two size. And remember: the browser lab is literacy. Real logic minimization still needs consistent variable order and don’t-care specs from the design.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finish a few challenges after the starter. On paper, draw one map and circle the groups. When you are ready, take the short quiz, then continue to SOP and POS.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K-maps</a:t>
            </a:r>
          </a:p>
          <a:p>
            <a:pPr algn="ctr">
              <a:lnSpc>
                <a:spcPts val="2200"/>
              </a:lnSpc>
              <a:spcBef>
                <a:spcPts val="1400"/>
              </a:spcBef>
            </a:pPr>
            <a:r>
              <a:rPr sz="2600" b="0">
                <a:solidFill>
                  <a:srgbClr val="333333"/>
                </a:solidFill>
                <a:latin typeface="Calibri"/>
              </a:rPr>
              <a:t>A Karnaugh map lays truth-table ones on a grid so adjacent cells differ by one bit</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kmap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Adjacent ones, bigger groups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Two-variable maps use Gray order on both axes</a:t>
            </a:r>
          </a:p>
          <a:p>
            <a:pPr lvl="0" marL="457200" indent="-228600">
              <a:buFont typeface="Calibri"/>
              <a:spcAft>
                <a:spcPts val="1000"/>
              </a:spcAft>
              <a:buSzPct val="100000"/>
              <a:buChar char="•"/>
              <a:lnSpc>
                <a:spcPts val="2200"/>
              </a:lnSpc>
            </a:pPr>
            <a:r>
              <a:rPr sz="2000" b="0">
                <a:solidFill>
                  <a:srgbClr val="333333"/>
                </a:solidFill>
                <a:latin typeface="Calibri"/>
              </a:rPr>
              <a:t>Three and four variables add more cells but the same rule: circle the largest legal groups</a:t>
            </a:r>
          </a:p>
          <a:p>
            <a:pPr lvl="0" marL="457200" indent="-228600">
              <a:buFont typeface="Calibri"/>
              <a:spcAft>
                <a:spcPts val="1000"/>
              </a:spcAft>
              <a:buSzPct val="100000"/>
              <a:buChar char="•"/>
              <a:lnSpc>
                <a:spcPts val="2200"/>
              </a:lnSpc>
            </a:pPr>
            <a:r>
              <a:rPr sz="2000" b="0">
                <a:solidFill>
                  <a:srgbClr val="333333"/>
                </a:solidFill>
                <a:latin typeface="Calibri"/>
              </a:rPr>
              <a:t>A group of four drops two literals</a:t>
            </a:r>
          </a:p>
          <a:p>
            <a:pPr lvl="0" marL="457200" indent="-228600">
              <a:buFont typeface="Calibri"/>
              <a:spcAft>
                <a:spcPts val="1000"/>
              </a:spcAft>
              <a:buSzPct val="100000"/>
              <a:buChar char="•"/>
              <a:lnSpc>
                <a:spcPts val="2200"/>
              </a:lnSpc>
            </a:pPr>
            <a:r>
              <a:rPr sz="2000" b="0">
                <a:solidFill>
                  <a:srgbClr val="333333"/>
                </a:solidFill>
                <a:latin typeface="Calibri"/>
              </a:rPr>
              <a:t>Don’t-care X cells can join a group when they help</a:t>
            </a:r>
          </a:p>
          <a:p>
            <a:pPr lvl="0" marL="457200" indent="-228600">
              <a:buFont typeface="Calibri"/>
              <a:spcAft>
                <a:spcPts val="1000"/>
              </a:spcAft>
              <a:buSzPct val="100000"/>
              <a:buChar char="•"/>
              <a:lnSpc>
                <a:spcPts val="2200"/>
              </a:lnSpc>
            </a:pPr>
            <a:r>
              <a:rPr sz="2000" b="0">
                <a:solidFill>
                  <a:srgbClr val="333333"/>
                </a:solidFill>
                <a:latin typeface="Calibri"/>
              </a:rPr>
              <a:t>Pick the minimal SOP when the challenge asks, one term per group</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kmap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K-map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kmap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Workbook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workbook track, sketch a two-input XOR map by hand and write its SOP</a:t>
            </a:r>
          </a:p>
          <a:p>
            <a:pPr lvl="0" marL="457200" indent="-228600">
              <a:buFont typeface="Calibri"/>
              <a:spcAft>
                <a:spcPts val="1000"/>
              </a:spcAft>
              <a:buSzPct val="100000"/>
              <a:buChar char="•"/>
              <a:lnSpc>
                <a:spcPts val="2200"/>
              </a:lnSpc>
            </a:pPr>
            <a:r>
              <a:rPr sz="2000" b="0">
                <a:solidFill>
                  <a:srgbClr val="333333"/>
                </a:solidFill>
                <a:latin typeface="Calibri"/>
              </a:rPr>
              <a:t>On three variables, group ones for at least two of A, B, or C</a:t>
            </a:r>
          </a:p>
          <a:p>
            <a:pPr lvl="0" marL="457200" indent="-228600">
              <a:buFont typeface="Calibri"/>
              <a:spcAft>
                <a:spcPts val="1000"/>
              </a:spcAft>
              <a:buSzPct val="100000"/>
              <a:buChar char="•"/>
              <a:lnSpc>
                <a:spcPts val="2200"/>
              </a:lnSpc>
            </a:pPr>
            <a:r>
              <a:rPr sz="2000" b="0">
                <a:solidFill>
                  <a:srgbClr val="333333"/>
                </a:solidFill>
                <a:latin typeface="Calibri"/>
              </a:rPr>
              <a:t>Mark why top and bottom rows are neighbors on a four-var map</a:t>
            </a:r>
          </a:p>
          <a:p>
            <a:pPr lvl="0" marL="457200" indent="-228600">
              <a:buFont typeface="Calibri"/>
              <a:spcAft>
                <a:spcPts val="1000"/>
              </a:spcAft>
              <a:buSzPct val="100000"/>
              <a:buChar char="•"/>
              <a:lnSpc>
                <a:spcPts val="2200"/>
              </a:lnSpc>
            </a:pPr>
            <a:r>
              <a:rPr sz="2000" b="0">
                <a:solidFill>
                  <a:srgbClr val="333333"/>
                </a:solidFill>
                <a:latin typeface="Calibri"/>
              </a:rPr>
              <a:t>Name one pitfall: grouping only in a straight line and missing a wrap-around quad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kmap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treat diagonal cells as adjacent, they are not</a:t>
            </a:r>
          </a:p>
          <a:p>
            <a:pPr lvl="0" marL="457200" indent="-228600">
              <a:buFont typeface="Calibri"/>
              <a:spcAft>
                <a:spcPts val="1000"/>
              </a:spcAft>
              <a:buSzPct val="100000"/>
              <a:buChar char="•"/>
              <a:lnSpc>
                <a:spcPts val="2200"/>
              </a:lnSpc>
            </a:pPr>
            <a:r>
              <a:rPr sz="2000" b="0">
                <a:solidFill>
                  <a:srgbClr val="333333"/>
                </a:solidFill>
                <a:latin typeface="Calibri"/>
              </a:rPr>
              <a:t>A group must be a power-of-two size</a:t>
            </a:r>
          </a:p>
          <a:p>
            <a:pPr lvl="0" marL="457200" indent="-228600">
              <a:buFont typeface="Calibri"/>
              <a:spcAft>
                <a:spcPts val="1000"/>
              </a:spcAft>
              <a:buSzPct val="100000"/>
              <a:buChar char="•"/>
              <a:lnSpc>
                <a:spcPts val="2200"/>
              </a:lnSpc>
            </a:pPr>
            <a:r>
              <a:rPr sz="2000" b="0">
                <a:solidFill>
                  <a:srgbClr val="333333"/>
                </a:solidFill>
                <a:latin typeface="Calibri"/>
              </a:rPr>
              <a:t>And remember: the browser lab is literacy</a:t>
            </a:r>
          </a:p>
          <a:p>
            <a:pPr lvl="0" marL="457200" indent="-228600">
              <a:buFont typeface="Calibri"/>
              <a:spcAft>
                <a:spcPts val="1000"/>
              </a:spcAft>
              <a:buSzPct val="100000"/>
              <a:buChar char="•"/>
              <a:lnSpc>
                <a:spcPts val="2200"/>
              </a:lnSpc>
            </a:pPr>
            <a:r>
              <a:rPr sz="2000" b="0">
                <a:solidFill>
                  <a:srgbClr val="333333"/>
                </a:solidFill>
                <a:latin typeface="Calibri"/>
              </a:rPr>
              <a:t>Real logic minimization still needs consistent variable order and don’t-care specs from</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kmap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finish a few challenges after the starter</a:t>
            </a:r>
          </a:p>
          <a:p>
            <a:pPr lvl="0" marL="457200" indent="-228600">
              <a:buFont typeface="Calibri"/>
              <a:spcAft>
                <a:spcPts val="1000"/>
              </a:spcAft>
              <a:buSzPct val="100000"/>
              <a:buChar char="•"/>
              <a:lnSpc>
                <a:spcPts val="2200"/>
              </a:lnSpc>
            </a:pPr>
            <a:r>
              <a:rPr sz="2000" b="0">
                <a:solidFill>
                  <a:srgbClr val="333333"/>
                </a:solidFill>
                <a:latin typeface="Calibri"/>
              </a:rPr>
              <a:t>On paper, draw one map and circle the groups</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SOP and POS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kmap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