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Adding multi-bit numbers means chaining full adders: each stage takes A, B, and carry in, and produces sum and carry out. Sum is A XOR B XOR Cin. Cout is one when at least two inputs are one. In a ripple-carry adder, Cout of bit i minus one feeds Cin of bit i—carry ripples from LSB toward MSB. Simple to build, but worst-case delay grows with bit width. This module steps a four-bit ripple and watches carry propagate.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four-bit A equals five, B equals three, Cin zero. Step carry from bit zero: LSBs are both one, so S0 is zero and Cout is one into bit one. Keep stepping until all four stages reveal—sum eight, Cout zero. Try fifteen plus one to see unsigned wrap: sum zero, Cout one. The delay note reminds you: critical path is about N full-adder carry delays. Wide adders use lookahead instead.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FA chain with carry arrows, the step counter, and the sum and Cout strip. Load the starter—four-bit five plus three. Press Step carry to ripple LSB first, or Show all to reveal the full add. Toggle Cin for subtract-style plus-one. Use Check when a challenge looks 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draw one full adder with sum and Cout equations. Ripple four bits for five plus three by hand. Explain why bit one waits on bit zero’s Cout. Sketch fifteen plus one in four bits. Name one pitfall: treating Cout as signed overflow instead of unsigned wrap.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assume ripple is fast at sixty-four bits—carry must walk the chain. Half adders have no Cin; full adders do. Cin equals one is common for two’s-complement subtract. And remember: the browser lab is literacy. Real RTL still needs timing analysis and often carry-lookahead or prefix adders.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draw one ripple step with Cout feeding the next Cin. When you are ready, take the short quiz, then continue to carry-lookahead generate and propagate.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Ripple-carry adder</a:t>
            </a:r>
          </a:p>
          <a:p>
            <a:pPr algn="ctr">
              <a:lnSpc>
                <a:spcPts val="2200"/>
              </a:lnSpc>
              <a:spcBef>
                <a:spcPts val="1400"/>
              </a:spcBef>
            </a:pPr>
            <a:r>
              <a:rPr sz="2600" b="0">
                <a:solidFill>
                  <a:srgbClr val="333333"/>
                </a:solidFill>
                <a:latin typeface="Calibri"/>
              </a:rPr>
              <a:t>Adding multi-bit numbers means chaining full adders: each stage takes A, B, and carry in, and produces sum and carry out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ripple carry adder animator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Five plus three starter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four-bit A equals five, B equals three, Cin zero</a:t>
            </a:r>
          </a:p>
          <a:p>
            <a:pPr lvl="0" marL="457200" indent="-228600">
              <a:buFont typeface="Calibri"/>
              <a:spcAft>
                <a:spcPts val="1000"/>
              </a:spcAft>
              <a:buSzPct val="100000"/>
              <a:buChar char="•"/>
              <a:lnSpc>
                <a:spcPts val="2200"/>
              </a:lnSpc>
            </a:pPr>
            <a:r>
              <a:rPr sz="2000" b="0">
                <a:solidFill>
                  <a:srgbClr val="333333"/>
                </a:solidFill>
                <a:latin typeface="Calibri"/>
              </a:rPr>
              <a:t>Step carry from bit zero: LSBs are both one, so S0 is zero and Cout is one into bit one</a:t>
            </a:r>
          </a:p>
          <a:p>
            <a:pPr lvl="0" marL="457200" indent="-228600">
              <a:buFont typeface="Calibri"/>
              <a:spcAft>
                <a:spcPts val="1000"/>
              </a:spcAft>
              <a:buSzPct val="100000"/>
              <a:buChar char="•"/>
              <a:lnSpc>
                <a:spcPts val="2200"/>
              </a:lnSpc>
            </a:pPr>
            <a:r>
              <a:rPr sz="2000" b="0">
                <a:solidFill>
                  <a:srgbClr val="333333"/>
                </a:solidFill>
                <a:latin typeface="Calibri"/>
              </a:rPr>
              <a:t>Keep stepping until all four stages reveal, sum eight, Cout zero</a:t>
            </a:r>
          </a:p>
          <a:p>
            <a:pPr lvl="0" marL="457200" indent="-228600">
              <a:buFont typeface="Calibri"/>
              <a:spcAft>
                <a:spcPts val="1000"/>
              </a:spcAft>
              <a:buSzPct val="100000"/>
              <a:buChar char="•"/>
              <a:lnSpc>
                <a:spcPts val="2200"/>
              </a:lnSpc>
            </a:pPr>
            <a:r>
              <a:rPr sz="2000" b="0">
                <a:solidFill>
                  <a:srgbClr val="333333"/>
                </a:solidFill>
                <a:latin typeface="Calibri"/>
              </a:rPr>
              <a:t>Try fifteen plus one to see unsigned wrap: sum zero, Cout one</a:t>
            </a:r>
          </a:p>
          <a:p>
            <a:pPr lvl="0" marL="457200" indent="-228600">
              <a:buFont typeface="Calibri"/>
              <a:spcAft>
                <a:spcPts val="1000"/>
              </a:spcAft>
              <a:buSzPct val="100000"/>
              <a:buChar char="•"/>
              <a:lnSpc>
                <a:spcPts val="2200"/>
              </a:lnSpc>
            </a:pPr>
            <a:r>
              <a:rPr sz="2000" b="0">
                <a:solidFill>
                  <a:srgbClr val="333333"/>
                </a:solidFill>
                <a:latin typeface="Calibri"/>
              </a:rPr>
              <a:t>The delay note reminds you: critical path is about N full-adder carry delays</a:t>
            </a:r>
          </a:p>
          <a:p>
            <a:pPr lvl="0" marL="457200" indent="-228600">
              <a:buFont typeface="Calibri"/>
              <a:spcAft>
                <a:spcPts val="1000"/>
              </a:spcAft>
              <a:buSzPct val="100000"/>
              <a:buChar char="•"/>
              <a:lnSpc>
                <a:spcPts val="2200"/>
              </a:lnSpc>
            </a:pPr>
            <a:r>
              <a:rPr sz="2000" b="0">
                <a:solidFill>
                  <a:srgbClr val="333333"/>
                </a:solidFill>
                <a:latin typeface="Calibri"/>
              </a:rPr>
              <a:t>Wide adders use lookahead instead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ripple carry adder animator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Ripple-carry adder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ripple carry adder animator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 draw one full adder with sum and Cout equations</a:t>
            </a:r>
          </a:p>
          <a:p>
            <a:pPr lvl="0" marL="457200" indent="-228600">
              <a:buFont typeface="Calibri"/>
              <a:spcAft>
                <a:spcPts val="1000"/>
              </a:spcAft>
              <a:buSzPct val="100000"/>
              <a:buChar char="•"/>
              <a:lnSpc>
                <a:spcPts val="2200"/>
              </a:lnSpc>
            </a:pPr>
            <a:r>
              <a:rPr sz="2000" b="0">
                <a:solidFill>
                  <a:srgbClr val="333333"/>
                </a:solidFill>
                <a:latin typeface="Calibri"/>
              </a:rPr>
              <a:t>Ripple four bits for five plus three by hand</a:t>
            </a:r>
          </a:p>
          <a:p>
            <a:pPr lvl="0" marL="457200" indent="-228600">
              <a:buFont typeface="Calibri"/>
              <a:spcAft>
                <a:spcPts val="1000"/>
              </a:spcAft>
              <a:buSzPct val="100000"/>
              <a:buChar char="•"/>
              <a:lnSpc>
                <a:spcPts val="2200"/>
              </a:lnSpc>
            </a:pPr>
            <a:r>
              <a:rPr sz="2000" b="0">
                <a:solidFill>
                  <a:srgbClr val="333333"/>
                </a:solidFill>
                <a:latin typeface="Calibri"/>
              </a:rPr>
              <a:t>Explain why bit one waits on bit zero’s Cout</a:t>
            </a:r>
          </a:p>
          <a:p>
            <a:pPr lvl="0" marL="457200" indent="-228600">
              <a:buFont typeface="Calibri"/>
              <a:spcAft>
                <a:spcPts val="1000"/>
              </a:spcAft>
              <a:buSzPct val="100000"/>
              <a:buChar char="•"/>
              <a:lnSpc>
                <a:spcPts val="2200"/>
              </a:lnSpc>
            </a:pPr>
            <a:r>
              <a:rPr sz="2000" b="0">
                <a:solidFill>
                  <a:srgbClr val="333333"/>
                </a:solidFill>
                <a:latin typeface="Calibri"/>
              </a:rPr>
              <a:t>Sketch fifteen plus one in four bits</a:t>
            </a:r>
          </a:p>
          <a:p>
            <a:pPr lvl="0" marL="457200" indent="-228600">
              <a:buFont typeface="Calibri"/>
              <a:spcAft>
                <a:spcPts val="1000"/>
              </a:spcAft>
              <a:buSzPct val="100000"/>
              <a:buChar char="•"/>
              <a:lnSpc>
                <a:spcPts val="2200"/>
              </a:lnSpc>
            </a:pPr>
            <a:r>
              <a:rPr sz="2000" b="0">
                <a:solidFill>
                  <a:srgbClr val="333333"/>
                </a:solidFill>
                <a:latin typeface="Calibri"/>
              </a:rPr>
              <a:t>Name one pitfall: treating Cout as signed overflow instead of unsigned wrap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ripple carry adder animator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assume ripple is fast at sixty-four bits, carry must walk the chain</a:t>
            </a:r>
          </a:p>
          <a:p>
            <a:pPr lvl="0" marL="457200" indent="-228600">
              <a:buFont typeface="Calibri"/>
              <a:spcAft>
                <a:spcPts val="1000"/>
              </a:spcAft>
              <a:buSzPct val="100000"/>
              <a:buChar char="•"/>
              <a:lnSpc>
                <a:spcPts val="2200"/>
              </a:lnSpc>
            </a:pPr>
            <a:r>
              <a:rPr sz="2000" b="0">
                <a:solidFill>
                  <a:srgbClr val="333333"/>
                </a:solidFill>
                <a:latin typeface="Calibri"/>
              </a:rPr>
              <a:t>Half adders have no Cin; full adders do</a:t>
            </a:r>
          </a:p>
          <a:p>
            <a:pPr lvl="0" marL="457200" indent="-228600">
              <a:buFont typeface="Calibri"/>
              <a:spcAft>
                <a:spcPts val="1000"/>
              </a:spcAft>
              <a:buSzPct val="100000"/>
              <a:buChar char="•"/>
              <a:lnSpc>
                <a:spcPts val="2200"/>
              </a:lnSpc>
            </a:pPr>
            <a:r>
              <a:rPr sz="2000" b="0">
                <a:solidFill>
                  <a:srgbClr val="333333"/>
                </a:solidFill>
                <a:latin typeface="Calibri"/>
              </a:rPr>
              <a:t>Cin equals one is common for two’s-complement subtract</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Real RTL still needs timing analysis and often carry-lookahead or prefix adders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ripple carry adder animator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draw one ripple step with Cout feeding the next Cin</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ripple carry adder animator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