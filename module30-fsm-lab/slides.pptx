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finite-state machine has a finite set of states, inputs, outputs, and rules for what happens next. Given the present state and input x, the transition table says the next state—and maybe the output Z. Moore machines tie Z to the current state only. Mealy machines tie Z to the state and input together, on the arc. Controllers, sequencers, and protocol engines are all FSMs in disguise. This module lets you sketch, step, and read them in the browser.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Starter: Moore toggle with two states—S0 outputs zero, S1 outputs one. When x equals one, the state flips; when x equals zero, it holds. Step the stream one-zero-one-one and watch Z follow the state: flip on each one, hold on each zero. The transition table lists next state for every state-and-input pair. Try the Mealy pulse preset too—Z pulses only on the transition when x equals 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look at three pieces: the state graph, the editable transition table, and the bit-stream stepper with Z history. Load the starter—Moore toggle on stream one-zero-one-one. Step one bit at a time, switch presets, or edit a blank three-state table. Use Check when a challenge looks done.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workbook track, draw a two-state Moore toggle and fill in its transition table. Write one sentence on how Moore output differs from Mealy. Sketch a three-state ring that advances on x equals one. Name one pitfall: forgetting a default transition or leaving a state unreachable.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mix Moore and Mealy rules in the same table—output columns mean different things. One input bit per step is like one clock cycle; the stream is not arbitrary analog time. And remember: the browser lab is literacy. Real RTL still needs encoding, reset state, and synthesis-friendly state registers.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a few challenges after the starter. On paper, draw one Moore table and one Mealy arc with Z on it. When you are ready, take the short quiz, then continue to state encoding.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FSM designer</a:t>
            </a:r>
          </a:p>
          <a:p>
            <a:pPr algn="ctr">
              <a:lnSpc>
                <a:spcPts val="2200"/>
              </a:lnSpc>
              <a:spcBef>
                <a:spcPts val="1400"/>
              </a:spcBef>
            </a:pPr>
            <a:r>
              <a:rPr sz="2600" b="0">
                <a:solidFill>
                  <a:srgbClr val="333333"/>
                </a:solidFill>
                <a:latin typeface="Calibri"/>
              </a:rPr>
              <a:t>A finite-state machine has a finite set of states, inputs, outputs, and rules for what happens next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fsm 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Moore toggle starter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Starter: Moore toggle with two states, S0 outputs zero, S1 outputs one</a:t>
            </a:r>
          </a:p>
          <a:p>
            <a:pPr lvl="0" marL="457200" indent="-228600">
              <a:buFont typeface="Calibri"/>
              <a:spcAft>
                <a:spcPts val="1000"/>
              </a:spcAft>
              <a:buSzPct val="100000"/>
              <a:buChar char="•"/>
              <a:lnSpc>
                <a:spcPts val="2200"/>
              </a:lnSpc>
            </a:pPr>
            <a:r>
              <a:rPr sz="2000" b="0">
                <a:solidFill>
                  <a:srgbClr val="333333"/>
                </a:solidFill>
                <a:latin typeface="Calibri"/>
              </a:rPr>
              <a:t>When x equals one, the state flips; when x equals zero, it holds</a:t>
            </a:r>
          </a:p>
          <a:p>
            <a:pPr lvl="0" marL="457200" indent="-228600">
              <a:buFont typeface="Calibri"/>
              <a:spcAft>
                <a:spcPts val="1000"/>
              </a:spcAft>
              <a:buSzPct val="100000"/>
              <a:buChar char="•"/>
              <a:lnSpc>
                <a:spcPts val="2200"/>
              </a:lnSpc>
            </a:pPr>
            <a:r>
              <a:rPr sz="2000" b="0">
                <a:solidFill>
                  <a:srgbClr val="333333"/>
                </a:solidFill>
                <a:latin typeface="Calibri"/>
              </a:rPr>
              <a:t>Step the stream one-zero-one-one and watch Z follow the state</a:t>
            </a:r>
          </a:p>
          <a:p>
            <a:pPr lvl="0" marL="457200" indent="-228600">
              <a:buFont typeface="Calibri"/>
              <a:spcAft>
                <a:spcPts val="1000"/>
              </a:spcAft>
              <a:buSzPct val="100000"/>
              <a:buChar char="•"/>
              <a:lnSpc>
                <a:spcPts val="2200"/>
              </a:lnSpc>
            </a:pPr>
            <a:r>
              <a:rPr sz="2000" b="0">
                <a:solidFill>
                  <a:srgbClr val="333333"/>
                </a:solidFill>
                <a:latin typeface="Calibri"/>
              </a:rPr>
              <a:t>The transition table lists next state for every state-and-input pair</a:t>
            </a:r>
          </a:p>
          <a:p>
            <a:pPr lvl="0" marL="457200" indent="-228600">
              <a:buFont typeface="Calibri"/>
              <a:spcAft>
                <a:spcPts val="1000"/>
              </a:spcAft>
              <a:buSzPct val="100000"/>
              <a:buChar char="•"/>
              <a:lnSpc>
                <a:spcPts val="2200"/>
              </a:lnSpc>
            </a:pPr>
            <a:r>
              <a:rPr sz="2000" b="0">
                <a:solidFill>
                  <a:srgbClr val="333333"/>
                </a:solidFill>
                <a:latin typeface="Calibri"/>
              </a:rPr>
              <a:t>Try the Mealy pulse preset too, Z pulses only on the transition when x equals one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fsm lab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FSM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fsm lab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Workbook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workbook track, draw a two-state Moore toggle and fill in its transition table</a:t>
            </a:r>
          </a:p>
          <a:p>
            <a:pPr lvl="0" marL="457200" indent="-228600">
              <a:buFont typeface="Calibri"/>
              <a:spcAft>
                <a:spcPts val="1000"/>
              </a:spcAft>
              <a:buSzPct val="100000"/>
              <a:buChar char="•"/>
              <a:lnSpc>
                <a:spcPts val="2200"/>
              </a:lnSpc>
            </a:pPr>
            <a:r>
              <a:rPr sz="2000" b="0">
                <a:solidFill>
                  <a:srgbClr val="333333"/>
                </a:solidFill>
                <a:latin typeface="Calibri"/>
              </a:rPr>
              <a:t>Write one sentence on how Moore output differs from Mealy</a:t>
            </a:r>
          </a:p>
          <a:p>
            <a:pPr lvl="0" marL="457200" indent="-228600">
              <a:buFont typeface="Calibri"/>
              <a:spcAft>
                <a:spcPts val="1000"/>
              </a:spcAft>
              <a:buSzPct val="100000"/>
              <a:buChar char="•"/>
              <a:lnSpc>
                <a:spcPts val="2200"/>
              </a:lnSpc>
            </a:pPr>
            <a:r>
              <a:rPr sz="2000" b="0">
                <a:solidFill>
                  <a:srgbClr val="333333"/>
                </a:solidFill>
                <a:latin typeface="Calibri"/>
              </a:rPr>
              <a:t>Sketch a three-state ring that advances on x equals one</a:t>
            </a:r>
          </a:p>
          <a:p>
            <a:pPr lvl="0" marL="457200" indent="-228600">
              <a:buFont typeface="Calibri"/>
              <a:spcAft>
                <a:spcPts val="1000"/>
              </a:spcAft>
              <a:buSzPct val="100000"/>
              <a:buChar char="•"/>
              <a:lnSpc>
                <a:spcPts val="2200"/>
              </a:lnSpc>
            </a:pPr>
            <a:r>
              <a:rPr sz="2000" b="0">
                <a:solidFill>
                  <a:srgbClr val="333333"/>
                </a:solidFill>
                <a:latin typeface="Calibri"/>
              </a:rPr>
              <a:t>Name one pitfall: forgetting a default transition or leaving a state unreachable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fsm lab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mix Moore and Mealy rules in the same table, output columns mean different things</a:t>
            </a:r>
          </a:p>
          <a:p>
            <a:pPr lvl="0" marL="457200" indent="-228600">
              <a:buFont typeface="Calibri"/>
              <a:spcAft>
                <a:spcPts val="1000"/>
              </a:spcAft>
              <a:buSzPct val="100000"/>
              <a:buChar char="•"/>
              <a:lnSpc>
                <a:spcPts val="2200"/>
              </a:lnSpc>
            </a:pPr>
            <a:r>
              <a:rPr sz="2000" b="0">
                <a:solidFill>
                  <a:srgbClr val="333333"/>
                </a:solidFill>
                <a:latin typeface="Calibri"/>
              </a:rPr>
              <a:t>One input bit per step is like one clock cycle; the stream is not arbitrary analog time</a:t>
            </a:r>
          </a:p>
          <a:p>
            <a:pPr lvl="0" marL="457200" indent="-228600">
              <a:buFont typeface="Calibri"/>
              <a:spcAft>
                <a:spcPts val="1000"/>
              </a:spcAft>
              <a:buSzPct val="100000"/>
              <a:buChar char="•"/>
              <a:lnSpc>
                <a:spcPts val="2200"/>
              </a:lnSpc>
            </a:pPr>
            <a:r>
              <a:rPr sz="2000" b="0">
                <a:solidFill>
                  <a:srgbClr val="333333"/>
                </a:solidFill>
                <a:latin typeface="Calibri"/>
              </a:rPr>
              <a:t>And remember: the browser lab is literacy</a:t>
            </a:r>
          </a:p>
          <a:p>
            <a:pPr lvl="0" marL="457200" indent="-228600">
              <a:buFont typeface="Calibri"/>
              <a:spcAft>
                <a:spcPts val="1000"/>
              </a:spcAft>
              <a:buSzPct val="100000"/>
              <a:buChar char="•"/>
              <a:lnSpc>
                <a:spcPts val="2200"/>
              </a:lnSpc>
            </a:pPr>
            <a:r>
              <a:rPr sz="2000" b="0">
                <a:solidFill>
                  <a:srgbClr val="333333"/>
                </a:solidFill>
                <a:latin typeface="Calibri"/>
              </a:rPr>
              <a:t>Real RTL still needs encoding, reset state, and synthesis-friendly state registers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fsm lab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a few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paper, draw one Moore table and one Mealy arc with Z on it</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state encoding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fsm lab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