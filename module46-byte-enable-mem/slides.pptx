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thirty-two-bit word RAM can update one byte at a time using byte-enable bits. Address selects the word; be zero through three each gate one lane on write. Disabled lanes keep their old data—partial store without a full read-modify-write on the bus. Little-endian layout: be zero is byte zero, the LSB. CPU byte, halfword, and word stores map to different be patterns. We equals one with be all zero updates nothing.</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Starter: four words by thirty-two bits. Word zero is hex DDCCBBAA—bytes AA, BB, CC, DD little-endian. Set addr zero, we equals one, be equals zero-zero-zero-one, din hex eight-eight-seven-seven-six-six-five-five. Step clock: only byte zero changes from AA to fifty-five. Word zero becomes DDCCBB55; BB, CC, DD unchanged. Try be equals one-one-one-one for a full word, or zero-zero-one-one for a low halfword.</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the browser lab, set addr, we, din, and toggle be three down to zero. Green highlights enabled lanes on the selected word. Step clk applies the masked write. Sample dout reads mem of addr without writing. Buttons set common patterns: LSB only, full word, halfword low, or be all zero.</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 paper, draw word zero with four byte lanes. Mark be equals zero-zero-zero-one and din byte zero equals fifty-five. Show the word before and after partial write. Tabulate be patterns: zero-zero-zero-one byte, zero-zero-one-one halfword, one-one-one-one word, zero-zero-zero-zero no change. Name one pitfall: confusing be bit order with big-endian byte numbering.</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 not assume we equals one always writes the full word—check be. Disabled lanes are not zeroed; they retain old values. Little-endian means be zero is the least significant byte. And remember: real systems also need alignment rules and write strobes; this lab is lane-mask literacy.</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Complete the checklist for at least one track—preferably both. In the browser, run the starter step and confirm only byte zero patches. On paper, sketch one partial write with be equals zero-zero-one-one. When you are ready, take the short quiz, then continue to async FIFO Gray pointers.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1828800"/>
            <a:ext cx="11064240" cy="2743200"/>
          </a:xfrm>
          <a:prstGeom prst="rect">
            <a:avLst/>
          </a:prstGeom>
          <a:noFill/>
        </p:spPr>
        <p:txBody>
          <a:bodyPr wrap="square">
            <a:noAutofit/>
          </a:bodyPr>
          <a:lstStyle/>
          <a:p>
            <a:pPr algn="ctr">
              <a:lnSpc>
                <a:spcPts val="2200"/>
              </a:lnSpc>
              <a:spcAft>
                <a:spcPts val="400"/>
              </a:spcAft>
            </a:pPr>
            <a:r>
              <a:rPr sz="4000" b="1">
                <a:solidFill>
                  <a:srgbClr val="1A1A2E"/>
                </a:solidFill>
                <a:latin typeface="Calibri"/>
              </a:rPr>
              <a:t>Byte-enable memory</a:t>
            </a:r>
          </a:p>
          <a:p>
            <a:pPr algn="ctr">
              <a:lnSpc>
                <a:spcPts val="2200"/>
              </a:lnSpc>
              <a:spcBef>
                <a:spcPts val="1400"/>
              </a:spcBef>
            </a:pPr>
            <a:r>
              <a:rPr sz="2600" b="0">
                <a:solidFill>
                  <a:srgbClr val="333333"/>
                </a:solidFill>
                <a:latin typeface="Calibri"/>
              </a:rPr>
              <a:t>A thirty-two-bit word RAM can update one byte at a time using byte-enable bits</a:t>
            </a:r>
          </a:p>
        </p:txBody>
      </p:sp>
      <p:sp>
        <p:nvSpPr>
          <p:cNvPr id="3" name="TextBox 2"/>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learn_digital — byte enable mem</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be equals 0001 starter</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Starter: four words by thirty-two bits</a:t>
            </a:r>
          </a:p>
          <a:p>
            <a:pPr lvl="0" marL="457200" indent="-228600">
              <a:buFont typeface="Calibri"/>
              <a:spcAft>
                <a:spcPts val="1000"/>
              </a:spcAft>
              <a:buSzPct val="100000"/>
              <a:buChar char="•"/>
              <a:lnSpc>
                <a:spcPts val="2200"/>
              </a:lnSpc>
            </a:pPr>
            <a:r>
              <a:rPr sz="2000" b="0">
                <a:solidFill>
                  <a:srgbClr val="333333"/>
                </a:solidFill>
                <a:latin typeface="Calibri"/>
              </a:rPr>
              <a:t>Word zero is hex DDCCBBAA, bytes AA, BB, CC, DD little-endian</a:t>
            </a:r>
          </a:p>
          <a:p>
            <a:pPr lvl="0" marL="457200" indent="-228600">
              <a:buFont typeface="Calibri"/>
              <a:spcAft>
                <a:spcPts val="1000"/>
              </a:spcAft>
              <a:buSzPct val="100000"/>
              <a:buChar char="•"/>
              <a:lnSpc>
                <a:spcPts val="2200"/>
              </a:lnSpc>
            </a:pPr>
            <a:r>
              <a:rPr sz="2000" b="0">
                <a:solidFill>
                  <a:srgbClr val="333333"/>
                </a:solidFill>
                <a:latin typeface="Calibri"/>
              </a:rPr>
              <a:t>Set addr zero</a:t>
            </a:r>
          </a:p>
          <a:p>
            <a:pPr lvl="0" marL="457200" indent="-228600">
              <a:buFont typeface="Calibri"/>
              <a:spcAft>
                <a:spcPts val="1000"/>
              </a:spcAft>
              <a:buSzPct val="100000"/>
              <a:buChar char="•"/>
              <a:lnSpc>
                <a:spcPts val="2200"/>
              </a:lnSpc>
            </a:pPr>
            <a:r>
              <a:rPr sz="2000" b="0">
                <a:solidFill>
                  <a:srgbClr val="333333"/>
                </a:solidFill>
                <a:latin typeface="Calibri"/>
              </a:rPr>
              <a:t>Step clock: only byte zero changes from AA to fifty-five</a:t>
            </a:r>
          </a:p>
          <a:p>
            <a:pPr lvl="0" marL="457200" indent="-228600">
              <a:buFont typeface="Calibri"/>
              <a:spcAft>
                <a:spcPts val="1000"/>
              </a:spcAft>
              <a:buSzPct val="100000"/>
              <a:buChar char="•"/>
              <a:lnSpc>
                <a:spcPts val="2200"/>
              </a:lnSpc>
            </a:pPr>
            <a:r>
              <a:rPr sz="2000" b="0">
                <a:solidFill>
                  <a:srgbClr val="333333"/>
                </a:solidFill>
                <a:latin typeface="Calibri"/>
              </a:rPr>
              <a:t>Word zero becomes DDCCBB55; BB, CC, DD unchanged</a:t>
            </a:r>
          </a:p>
          <a:p>
            <a:pPr lvl="0" marL="457200" indent="-228600">
              <a:buFont typeface="Calibri"/>
              <a:spcAft>
                <a:spcPts val="1000"/>
              </a:spcAft>
              <a:buSzPct val="100000"/>
              <a:buChar char="•"/>
              <a:lnSpc>
                <a:spcPts val="2200"/>
              </a:lnSpc>
            </a:pPr>
            <a:r>
              <a:rPr sz="2000" b="0">
                <a:solidFill>
                  <a:srgbClr val="333333"/>
                </a:solidFill>
                <a:latin typeface="Calibri"/>
              </a:rPr>
              <a:t>Try be equals one-one-one-one for a full word, or zero-zero-one-one for a low halfword</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learn_digital — byte enable mem</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Browser lab</a:t>
            </a:r>
          </a:p>
        </p:txBody>
      </p:sp>
      <p:pic>
        <p:nvPicPr>
          <p:cNvPr id="3" name="Picture 2" descr="lab-starter.png"/>
          <p:cNvPicPr>
            <a:picLocks noChangeAspect="1"/>
          </p:cNvPicPr>
          <p:nvPr/>
        </p:nvPicPr>
        <p:blipFill>
          <a:blip r:embed="rId2"/>
          <a:stretch>
            <a:fillRect/>
          </a:stretch>
        </p:blipFill>
        <p:spPr>
          <a:xfrm>
            <a:off x="548640" y="1143000"/>
            <a:ext cx="7315200" cy="4572000"/>
          </a:xfrm>
          <a:prstGeom prst="rect">
            <a:avLst/>
          </a:prstGeom>
        </p:spPr>
      </p:pic>
      <p:sp>
        <p:nvSpPr>
          <p:cNvPr id="4" name="TextBox 3"/>
          <p:cNvSpPr txBox="1"/>
          <p:nvPr/>
        </p:nvSpPr>
        <p:spPr>
          <a:xfrm>
            <a:off x="548640" y="5897880"/>
            <a:ext cx="11064240" cy="411480"/>
          </a:xfrm>
          <a:prstGeom prst="rect">
            <a:avLst/>
          </a:prstGeom>
          <a:noFill/>
        </p:spPr>
        <p:txBody>
          <a:bodyPr wrap="square">
            <a:noAutofit/>
          </a:bodyPr>
          <a:lstStyle/>
          <a:p>
            <a:pPr>
              <a:lnSpc>
                <a:spcPts val="2200"/>
              </a:lnSpc>
            </a:pPr>
            <a:r>
              <a:rPr sz="1200" b="0">
                <a:solidFill>
                  <a:srgbClr val="333333"/>
                </a:solidFill>
                <a:latin typeface="Calibri"/>
              </a:rPr>
              <a:t>Byte-enable memory starter</a:t>
            </a:r>
          </a:p>
        </p:txBody>
      </p:sp>
      <p:sp>
        <p:nvSpPr>
          <p:cNvPr id="5" name="TextBox 4"/>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learn_digital — byte enable mem</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Workbook practice</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On paper, draw word zero with four byte lanes</a:t>
            </a:r>
          </a:p>
          <a:p>
            <a:pPr lvl="0" marL="457200" indent="-228600">
              <a:buFont typeface="Calibri"/>
              <a:spcAft>
                <a:spcPts val="1000"/>
              </a:spcAft>
              <a:buSzPct val="100000"/>
              <a:buChar char="•"/>
              <a:lnSpc>
                <a:spcPts val="2200"/>
              </a:lnSpc>
            </a:pPr>
            <a:r>
              <a:rPr sz="2000" b="0">
                <a:solidFill>
                  <a:srgbClr val="333333"/>
                </a:solidFill>
                <a:latin typeface="Calibri"/>
              </a:rPr>
              <a:t>Mark be equals zero-zero-zero-one and din byte zero equals fifty-five</a:t>
            </a:r>
          </a:p>
          <a:p>
            <a:pPr lvl="0" marL="457200" indent="-228600">
              <a:buFont typeface="Calibri"/>
              <a:spcAft>
                <a:spcPts val="1000"/>
              </a:spcAft>
              <a:buSzPct val="100000"/>
              <a:buChar char="•"/>
              <a:lnSpc>
                <a:spcPts val="2200"/>
              </a:lnSpc>
            </a:pPr>
            <a:r>
              <a:rPr sz="2000" b="0">
                <a:solidFill>
                  <a:srgbClr val="333333"/>
                </a:solidFill>
                <a:latin typeface="Calibri"/>
              </a:rPr>
              <a:t>Show the word before and after partial write</a:t>
            </a:r>
          </a:p>
          <a:p>
            <a:pPr lvl="0" marL="457200" indent="-228600">
              <a:buFont typeface="Calibri"/>
              <a:spcAft>
                <a:spcPts val="1000"/>
              </a:spcAft>
              <a:buSzPct val="100000"/>
              <a:buChar char="•"/>
              <a:lnSpc>
                <a:spcPts val="2200"/>
              </a:lnSpc>
            </a:pPr>
            <a:r>
              <a:rPr sz="2000" b="0">
                <a:solidFill>
                  <a:srgbClr val="333333"/>
                </a:solidFill>
                <a:latin typeface="Calibri"/>
              </a:rPr>
              <a:t>Tabulate be patterns</a:t>
            </a:r>
          </a:p>
          <a:p>
            <a:pPr lvl="0" marL="457200" indent="-228600">
              <a:buFont typeface="Calibri"/>
              <a:spcAft>
                <a:spcPts val="1000"/>
              </a:spcAft>
              <a:buSzPct val="100000"/>
              <a:buChar char="•"/>
              <a:lnSpc>
                <a:spcPts val="2200"/>
              </a:lnSpc>
            </a:pPr>
            <a:r>
              <a:rPr sz="2000" b="0">
                <a:solidFill>
                  <a:srgbClr val="333333"/>
                </a:solidFill>
                <a:latin typeface="Calibri"/>
              </a:rPr>
              <a:t>Name one pitfall: confusing be bit order with big-endian byte numbering</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learn_digital — byte enable mem</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Pitfalls to watch</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Do not assume we equals one always writes the full word, check be</a:t>
            </a:r>
          </a:p>
          <a:p>
            <a:pPr lvl="0" marL="457200" indent="-228600">
              <a:buFont typeface="Calibri"/>
              <a:spcAft>
                <a:spcPts val="1000"/>
              </a:spcAft>
              <a:buSzPct val="100000"/>
              <a:buChar char="•"/>
              <a:lnSpc>
                <a:spcPts val="2200"/>
              </a:lnSpc>
            </a:pPr>
            <a:r>
              <a:rPr sz="2000" b="0">
                <a:solidFill>
                  <a:srgbClr val="333333"/>
                </a:solidFill>
                <a:latin typeface="Calibri"/>
              </a:rPr>
              <a:t>Disabled lanes are not zeroed; they retain old values</a:t>
            </a:r>
          </a:p>
          <a:p>
            <a:pPr lvl="0" marL="457200" indent="-228600">
              <a:buFont typeface="Calibri"/>
              <a:spcAft>
                <a:spcPts val="1000"/>
              </a:spcAft>
              <a:buSzPct val="100000"/>
              <a:buChar char="•"/>
              <a:lnSpc>
                <a:spcPts val="2200"/>
              </a:lnSpc>
            </a:pPr>
            <a:r>
              <a:rPr sz="2000" b="0">
                <a:solidFill>
                  <a:srgbClr val="333333"/>
                </a:solidFill>
                <a:latin typeface="Calibri"/>
              </a:rPr>
              <a:t>Little-endian means be zero is the least significant byte</a:t>
            </a:r>
          </a:p>
          <a:p>
            <a:pPr lvl="0" marL="457200" indent="-228600">
              <a:buFont typeface="Calibri"/>
              <a:spcAft>
                <a:spcPts val="1000"/>
              </a:spcAft>
              <a:buSzPct val="100000"/>
              <a:buChar char="•"/>
              <a:lnSpc>
                <a:spcPts val="2200"/>
              </a:lnSpc>
            </a:pPr>
            <a:r>
              <a:rPr sz="2000" b="0">
                <a:solidFill>
                  <a:srgbClr val="333333"/>
                </a:solidFill>
                <a:latin typeface="Calibri"/>
              </a:rPr>
              <a:t>And remember</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learn_digital — byte enable mem</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Your turn</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Complete the checklist for at least one track, preferably both</a:t>
            </a:r>
          </a:p>
          <a:p>
            <a:pPr lvl="0" marL="457200" indent="-228600">
              <a:buFont typeface="Calibri"/>
              <a:spcAft>
                <a:spcPts val="1000"/>
              </a:spcAft>
              <a:buSzPct val="100000"/>
              <a:buChar char="•"/>
              <a:lnSpc>
                <a:spcPts val="2200"/>
              </a:lnSpc>
            </a:pPr>
            <a:r>
              <a:rPr sz="2000" b="0">
                <a:solidFill>
                  <a:srgbClr val="333333"/>
                </a:solidFill>
                <a:latin typeface="Calibri"/>
              </a:rPr>
              <a:t>In the browser, run the starter step and confirm only byte zero patches</a:t>
            </a:r>
          </a:p>
          <a:p>
            <a:pPr lvl="0" marL="457200" indent="-228600">
              <a:buFont typeface="Calibri"/>
              <a:spcAft>
                <a:spcPts val="1000"/>
              </a:spcAft>
              <a:buSzPct val="100000"/>
              <a:buChar char="•"/>
              <a:lnSpc>
                <a:spcPts val="2200"/>
              </a:lnSpc>
            </a:pPr>
            <a:r>
              <a:rPr sz="2000" b="0">
                <a:solidFill>
                  <a:srgbClr val="333333"/>
                </a:solidFill>
                <a:latin typeface="Calibri"/>
              </a:rPr>
              <a:t>On paper, sketch one partial write with be equals zero-zero-one-one</a:t>
            </a:r>
          </a:p>
          <a:p>
            <a:pPr lvl="0" marL="457200" indent="-228600">
              <a:buFont typeface="Calibri"/>
              <a:spcAft>
                <a:spcPts val="1000"/>
              </a:spcAft>
              <a:buSzPct val="100000"/>
              <a:buChar char="•"/>
              <a:lnSpc>
                <a:spcPts val="2200"/>
              </a:lnSpc>
            </a:pPr>
            <a:r>
              <a:rPr sz="2000" b="0">
                <a:solidFill>
                  <a:srgbClr val="333333"/>
                </a:solidFill>
                <a:latin typeface="Calibri"/>
              </a:rPr>
              <a:t>When you are ready, take the short quiz, then continue to async FIFO Gray pointers</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learn_digital — byte enable mem</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