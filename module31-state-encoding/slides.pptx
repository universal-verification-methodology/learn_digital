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FSM has abstract states S0, S1, S2—but silicon stores bit patterns in flip-flops. Binary encoding is compact: N states need ceiling log two N bits. One-hot uses N flip-flops with exactly one bit high—wider, but easy to decode. Gray codes assign indices so consecutive codes differ in exactly one bit—good for counters and ring steps. The choice trades area, speed, and glitch risk on transitions.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four states in binary—two flip-flops. Click S1 to S2 and Hamming distance is two—both bits flip. That matters because combinational decode can briefly see illegal intermediate codes. Switch to one-hot: four bits, one high; most arcs flip two bits but decode is a single wire. Switch to Gray: ring steps often have Hamming one. Yellow rows in the arc table flag multi-bit transitions.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encoding tabs, the state code table, and the arc grid with Hamming distances. Load the starter—four states, binary. Compare one-hot and Gray, change state count, click an arc to see which bits flip. Use Check when a challenge looks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write binary codes for four states and mark Hamming distance on S0 to S1 versus S1 to S2. Sketch one-hot for three states. Explain why five states in three binary bits leaves unused codes—and what recovery rule you would add. Name one pitfall: multi-bit flips glitching state decode.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assume binary is always best—compact codes can hazard decode. One-hot costs more FFs but simplifies “are we in S2?” checks. Unused binary codes need a default next-state, not hope. And remember: the browser lab is literacy. Real RTL still needs synthesis encoding hints and safe illegal-state recovery.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draw one binary multi-flip arc and one Gray single-flip step. When you are ready, take the short quiz, then continue to the sequence detector.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State encoding</a:t>
            </a:r>
          </a:p>
          <a:p>
            <a:pPr algn="ctr">
              <a:lnSpc>
                <a:spcPts val="2200"/>
              </a:lnSpc>
              <a:spcBef>
                <a:spcPts val="1400"/>
              </a:spcBef>
            </a:pPr>
            <a:r>
              <a:rPr sz="2600" b="0">
                <a:solidFill>
                  <a:srgbClr val="333333"/>
                </a:solidFill>
                <a:latin typeface="Calibri"/>
              </a:rPr>
              <a:t>An FSM has abstract states S0, S1, S2, but silicon stores bit patterns in flip-flops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state encoding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Hamming distance and flips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four states in binary, two flip-flops</a:t>
            </a:r>
          </a:p>
          <a:p>
            <a:pPr lvl="0" marL="457200" indent="-228600">
              <a:buFont typeface="Calibri"/>
              <a:spcAft>
                <a:spcPts val="1000"/>
              </a:spcAft>
              <a:buSzPct val="100000"/>
              <a:buChar char="•"/>
              <a:lnSpc>
                <a:spcPts val="2200"/>
              </a:lnSpc>
            </a:pPr>
            <a:r>
              <a:rPr sz="2000" b="0">
                <a:solidFill>
                  <a:srgbClr val="333333"/>
                </a:solidFill>
                <a:latin typeface="Calibri"/>
              </a:rPr>
              <a:t>Click S1 to S2 and Hamming distance is two, both bits flip</a:t>
            </a:r>
          </a:p>
          <a:p>
            <a:pPr lvl="0" marL="457200" indent="-228600">
              <a:buFont typeface="Calibri"/>
              <a:spcAft>
                <a:spcPts val="1000"/>
              </a:spcAft>
              <a:buSzPct val="100000"/>
              <a:buChar char="•"/>
              <a:lnSpc>
                <a:spcPts val="2200"/>
              </a:lnSpc>
            </a:pPr>
            <a:r>
              <a:rPr sz="2000" b="0">
                <a:solidFill>
                  <a:srgbClr val="333333"/>
                </a:solidFill>
                <a:latin typeface="Calibri"/>
              </a:rPr>
              <a:t>That matters because combinational decode can briefly see illegal intermediate codes</a:t>
            </a:r>
          </a:p>
          <a:p>
            <a:pPr lvl="0" marL="457200" indent="-228600">
              <a:buFont typeface="Calibri"/>
              <a:spcAft>
                <a:spcPts val="1000"/>
              </a:spcAft>
              <a:buSzPct val="100000"/>
              <a:buChar char="•"/>
              <a:lnSpc>
                <a:spcPts val="2200"/>
              </a:lnSpc>
            </a:pPr>
            <a:r>
              <a:rPr sz="2000" b="0">
                <a:solidFill>
                  <a:srgbClr val="333333"/>
                </a:solidFill>
                <a:latin typeface="Calibri"/>
              </a:rPr>
              <a:t>Switch to one-hot</a:t>
            </a:r>
          </a:p>
          <a:p>
            <a:pPr lvl="0" marL="457200" indent="-228600">
              <a:buFont typeface="Calibri"/>
              <a:spcAft>
                <a:spcPts val="1000"/>
              </a:spcAft>
              <a:buSzPct val="100000"/>
              <a:buChar char="•"/>
              <a:lnSpc>
                <a:spcPts val="2200"/>
              </a:lnSpc>
            </a:pPr>
            <a:r>
              <a:rPr sz="2000" b="0">
                <a:solidFill>
                  <a:srgbClr val="333333"/>
                </a:solidFill>
                <a:latin typeface="Calibri"/>
              </a:rPr>
              <a:t>Switch to Gray: ring steps often have Hamming one</a:t>
            </a:r>
          </a:p>
          <a:p>
            <a:pPr lvl="0" marL="457200" indent="-228600">
              <a:buFont typeface="Calibri"/>
              <a:spcAft>
                <a:spcPts val="1000"/>
              </a:spcAft>
              <a:buSzPct val="100000"/>
              <a:buChar char="•"/>
              <a:lnSpc>
                <a:spcPts val="2200"/>
              </a:lnSpc>
            </a:pPr>
            <a:r>
              <a:rPr sz="2000" b="0">
                <a:solidFill>
                  <a:srgbClr val="333333"/>
                </a:solidFill>
                <a:latin typeface="Calibri"/>
              </a:rPr>
              <a:t>Yellow rows in the arc table flag multi-bit transitions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state encoding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State encoding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state encoding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a:t>
            </a:r>
          </a:p>
          <a:p>
            <a:pPr lvl="0" marL="457200" indent="-228600">
              <a:buFont typeface="Calibri"/>
              <a:spcAft>
                <a:spcPts val="1000"/>
              </a:spcAft>
              <a:buSzPct val="100000"/>
              <a:buChar char="•"/>
              <a:lnSpc>
                <a:spcPts val="2200"/>
              </a:lnSpc>
            </a:pPr>
            <a:r>
              <a:rPr sz="2000" b="0">
                <a:solidFill>
                  <a:srgbClr val="333333"/>
                </a:solidFill>
                <a:latin typeface="Calibri"/>
              </a:rPr>
              <a:t>Sketch one-hot for three states</a:t>
            </a:r>
          </a:p>
          <a:p>
            <a:pPr lvl="0" marL="457200" indent="-228600">
              <a:buFont typeface="Calibri"/>
              <a:spcAft>
                <a:spcPts val="1000"/>
              </a:spcAft>
              <a:buSzPct val="100000"/>
              <a:buChar char="•"/>
              <a:lnSpc>
                <a:spcPts val="2200"/>
              </a:lnSpc>
            </a:pPr>
            <a:r>
              <a:rPr sz="2000" b="0">
                <a:solidFill>
                  <a:srgbClr val="333333"/>
                </a:solidFill>
                <a:latin typeface="Calibri"/>
              </a:rPr>
              <a:t>Explain why five states in three binary bits leaves unused codes</a:t>
            </a:r>
          </a:p>
          <a:p>
            <a:pPr lvl="0" marL="457200" indent="-228600">
              <a:buFont typeface="Calibri"/>
              <a:spcAft>
                <a:spcPts val="1000"/>
              </a:spcAft>
              <a:buSzPct val="100000"/>
              <a:buChar char="•"/>
              <a:lnSpc>
                <a:spcPts val="2200"/>
              </a:lnSpc>
            </a:pPr>
            <a:r>
              <a:rPr sz="2000" b="0">
                <a:solidFill>
                  <a:srgbClr val="333333"/>
                </a:solidFill>
                <a:latin typeface="Calibri"/>
              </a:rPr>
              <a:t>Name one pitfall: multi-bit flips glitching state decode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state encoding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assume binary is always best, compact codes can hazard decode</a:t>
            </a:r>
          </a:p>
          <a:p>
            <a:pPr lvl="0" marL="457200" indent="-228600">
              <a:buFont typeface="Calibri"/>
              <a:spcAft>
                <a:spcPts val="1000"/>
              </a:spcAft>
              <a:buSzPct val="100000"/>
              <a:buChar char="•"/>
              <a:lnSpc>
                <a:spcPts val="2200"/>
              </a:lnSpc>
            </a:pPr>
            <a:r>
              <a:rPr sz="2000" b="0">
                <a:solidFill>
                  <a:srgbClr val="333333"/>
                </a:solidFill>
                <a:latin typeface="Calibri"/>
              </a:rPr>
              <a:t>One-hot costs more FFs but simplifies “are we in S2?” checks</a:t>
            </a:r>
          </a:p>
          <a:p>
            <a:pPr lvl="0" marL="457200" indent="-228600">
              <a:buFont typeface="Calibri"/>
              <a:spcAft>
                <a:spcPts val="1000"/>
              </a:spcAft>
              <a:buSzPct val="100000"/>
              <a:buChar char="•"/>
              <a:lnSpc>
                <a:spcPts val="2200"/>
              </a:lnSpc>
            </a:pPr>
            <a:r>
              <a:rPr sz="2000" b="0">
                <a:solidFill>
                  <a:srgbClr val="333333"/>
                </a:solidFill>
                <a:latin typeface="Calibri"/>
              </a:rPr>
              <a:t>Unused binary codes need a default next-state, not hope</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Real RTL still needs synthesis encoding hints and safe illegal-state recovery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state encoding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draw one binary multi-flip arc and one Gray single-flip step</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sequence detector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state encoding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