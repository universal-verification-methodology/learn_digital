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Unsigned numbers only go one way. Hardware also needs negative values in the same bit box. Two’s complement is the usual signed encoding: the most significant bit is the sign, and addition still works with ordinary binary adders. This module makes that encoding tangible—in the browser, then on paper.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 fixed width, the top bit is the sign. All ones is minus one. To negate, invert every bit and add one. The range is not symmetric: at width eight you get minus one hundred twenty-eight through plus one hundred twenty-seven. That asymmetric floor is easy to forget when you “just add one more.”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bit pattern, and the signed value controls. Load the starter—you should see plus five—then try Negate and watch the bits become minus five. Use Check when a challenge looks done. Explore a few challenges; you do not need a full UI tour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write width eight on paper. Start from plus five: bits ending in zero one zero one. Negate by hand—invert, then add one—and confirm you land on minus five. Then write the signed meanings of all ones, the minimum pattern with only the sign bit set, and the maximum with the sign clear and the rest ones. Name one RTL pitfall: treating a signed wire as unsigned, or forgetting the asymmetric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most significant bit as “just another magnitude bit” when the type is signed. Do not expect plus one hundred twenty-eight to fit in eight-bit two’s complement—it wraps. And remember: the browser lab is literacy. Waveforms and RTL still demand the same signed-versus-unsigned discipline.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negate one value by hand and list min, max, and minus one for one width. When you are ready, take the short quiz, then continue to overflow and wrap.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Two’s complement</a:t>
            </a:r>
          </a:p>
          <a:p>
            <a:pPr algn="ctr">
              <a:lnSpc>
                <a:spcPts val="2200"/>
              </a:lnSpc>
              <a:spcBef>
                <a:spcPts val="1400"/>
              </a:spcBef>
            </a:pPr>
            <a:r>
              <a:rPr sz="2600" b="0">
                <a:solidFill>
                  <a:srgbClr val="333333"/>
                </a:solidFill>
                <a:latin typeface="Calibri"/>
              </a:rPr>
              <a:t>Unsigned numbers only go one way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twos complement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Sign bit, negate, range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 a fixed width, the top bit is the sign</a:t>
            </a:r>
          </a:p>
          <a:p>
            <a:pPr lvl="0" marL="457200" indent="-228600">
              <a:buFont typeface="Calibri"/>
              <a:spcAft>
                <a:spcPts val="1000"/>
              </a:spcAft>
              <a:buSzPct val="100000"/>
              <a:buChar char="•"/>
              <a:lnSpc>
                <a:spcPts val="2200"/>
              </a:lnSpc>
            </a:pPr>
            <a:r>
              <a:rPr sz="2000" b="0">
                <a:solidFill>
                  <a:srgbClr val="333333"/>
                </a:solidFill>
                <a:latin typeface="Calibri"/>
              </a:rPr>
              <a:t>All ones is minus one</a:t>
            </a:r>
          </a:p>
          <a:p>
            <a:pPr lvl="0" marL="457200" indent="-228600">
              <a:buFont typeface="Calibri"/>
              <a:spcAft>
                <a:spcPts val="1000"/>
              </a:spcAft>
              <a:buSzPct val="100000"/>
              <a:buChar char="•"/>
              <a:lnSpc>
                <a:spcPts val="2200"/>
              </a:lnSpc>
            </a:pPr>
            <a:r>
              <a:rPr sz="2000" b="0">
                <a:solidFill>
                  <a:srgbClr val="333333"/>
                </a:solidFill>
                <a:latin typeface="Calibri"/>
              </a:rPr>
              <a:t>To negate, invert every bit and add one</a:t>
            </a:r>
          </a:p>
          <a:p>
            <a:pPr lvl="0" marL="457200" indent="-228600">
              <a:buFont typeface="Calibri"/>
              <a:spcAft>
                <a:spcPts val="1000"/>
              </a:spcAft>
              <a:buSzPct val="100000"/>
              <a:buChar char="•"/>
              <a:lnSpc>
                <a:spcPts val="2200"/>
              </a:lnSpc>
            </a:pPr>
            <a:r>
              <a:rPr sz="2000" b="0">
                <a:solidFill>
                  <a:srgbClr val="333333"/>
                </a:solidFill>
                <a:latin typeface="Calibri"/>
              </a:rPr>
              <a:t>The range is not symmetric</a:t>
            </a:r>
          </a:p>
          <a:p>
            <a:pPr lvl="0" marL="457200" indent="-228600">
              <a:buFont typeface="Calibri"/>
              <a:spcAft>
                <a:spcPts val="1000"/>
              </a:spcAft>
              <a:buSzPct val="100000"/>
              <a:buChar char="•"/>
              <a:lnSpc>
                <a:spcPts val="2200"/>
              </a:lnSpc>
            </a:pPr>
            <a:r>
              <a:rPr sz="2000" b="0">
                <a:solidFill>
                  <a:srgbClr val="333333"/>
                </a:solidFill>
                <a:latin typeface="Calibri"/>
              </a:rPr>
              <a:t>That asymmetric floor is easy to forget when you “just add one more.”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twos complement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Two’s complement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twos complement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write width eight on paper</a:t>
            </a:r>
          </a:p>
          <a:p>
            <a:pPr lvl="0" marL="457200" indent="-228600">
              <a:buFont typeface="Calibri"/>
              <a:spcAft>
                <a:spcPts val="1000"/>
              </a:spcAft>
              <a:buSzPct val="100000"/>
              <a:buChar char="•"/>
              <a:lnSpc>
                <a:spcPts val="2200"/>
              </a:lnSpc>
            </a:pPr>
            <a:r>
              <a:rPr sz="2000" b="0">
                <a:solidFill>
                  <a:srgbClr val="333333"/>
                </a:solidFill>
                <a:latin typeface="Calibri"/>
              </a:rPr>
              <a:t>Start from plus five: bits ending in zero one zero one</a:t>
            </a:r>
          </a:p>
          <a:p>
            <a:pPr lvl="0" marL="457200" indent="-228600">
              <a:buFont typeface="Calibri"/>
              <a:spcAft>
                <a:spcPts val="1000"/>
              </a:spcAft>
              <a:buSzPct val="100000"/>
              <a:buChar char="•"/>
              <a:lnSpc>
                <a:spcPts val="2200"/>
              </a:lnSpc>
            </a:pPr>
            <a:r>
              <a:rPr sz="2000" b="0">
                <a:solidFill>
                  <a:srgbClr val="333333"/>
                </a:solidFill>
                <a:latin typeface="Calibri"/>
              </a:rPr>
              <a:t>Negate by hand, invert, then add one, and confirm you land on minus five</a:t>
            </a:r>
          </a:p>
          <a:p>
            <a:pPr lvl="0" marL="457200" indent="-228600">
              <a:buFont typeface="Calibri"/>
              <a:spcAft>
                <a:spcPts val="1000"/>
              </a:spcAft>
              <a:buSzPct val="100000"/>
              <a:buChar char="•"/>
              <a:lnSpc>
                <a:spcPts val="2200"/>
              </a:lnSpc>
            </a:pPr>
            <a:r>
              <a:rPr sz="2000" b="0">
                <a:solidFill>
                  <a:srgbClr val="333333"/>
                </a:solidFill>
                <a:latin typeface="Calibri"/>
              </a:rPr>
              <a:t>Then write the signed meanings of all ones, the minimum pattern with only the sign bit set</a:t>
            </a:r>
          </a:p>
          <a:p>
            <a:pPr lvl="0" marL="457200" indent="-228600">
              <a:buFont typeface="Calibri"/>
              <a:spcAft>
                <a:spcPts val="1000"/>
              </a:spcAft>
              <a:buSzPct val="100000"/>
              <a:buChar char="•"/>
              <a:lnSpc>
                <a:spcPts val="2200"/>
              </a:lnSpc>
            </a:pPr>
            <a:r>
              <a:rPr sz="2000" b="0">
                <a:solidFill>
                  <a:srgbClr val="333333"/>
                </a:solidFill>
                <a:latin typeface="Calibri"/>
              </a:rPr>
              <a:t>Name one RTL pitfall: treating a signed wire as unsigned, or forgetting the asymmetric min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twos complement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read the most significant bit as “just another magnitude bit” when the type is</a:t>
            </a:r>
          </a:p>
          <a:p>
            <a:pPr lvl="0" marL="457200" indent="-228600">
              <a:buFont typeface="Calibri"/>
              <a:spcAft>
                <a:spcPts val="1000"/>
              </a:spcAft>
              <a:buSzPct val="100000"/>
              <a:buChar char="•"/>
              <a:lnSpc>
                <a:spcPts val="2200"/>
              </a:lnSpc>
            </a:pPr>
            <a:r>
              <a:rPr sz="2000" b="0">
                <a:solidFill>
                  <a:srgbClr val="333333"/>
                </a:solidFill>
                <a:latin typeface="Calibri"/>
              </a:rPr>
              <a:t>Do not expect plus one hundred twenty-eight to fit in eight-bit two’s complement, it wraps</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Waveforms and RTL still demand the same signed-versus-unsigned discipline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twos complement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negate one value by hand and list min, max, and minus one for one width</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overflow and wrap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twos complement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